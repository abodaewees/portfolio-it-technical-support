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nton" pitchFamily="2" charset="0"/>
      <p:regular r:id="rId24"/>
    </p:embeddedFont>
    <p:embeddedFont>
      <p:font typeface="Canva Sans" panose="020B0604020202020204" charset="0"/>
      <p:regular r:id="rId25"/>
    </p:embeddedFont>
    <p:embeddedFont>
      <p:font typeface="Canva Sans Bold" panose="020B0604020202020204" charset="0"/>
      <p:regular r:id="rId26"/>
    </p:embeddedFont>
    <p:embeddedFont>
      <p:font typeface="Inter" panose="020B0604020202020204" charset="0"/>
      <p:regular r:id="rId27"/>
    </p:embeddedFont>
    <p:embeddedFont>
      <p:font typeface="Inter Bold" panose="020B0604020202020204" charset="0"/>
      <p:regular r:id="rId28"/>
    </p:embeddedFont>
    <p:embeddedFont>
      <p:font typeface="Koho" panose="020B0604020202020204" charset="-3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sp>
        <p:nvSpPr>
          <p:cNvPr id="2" name="Freeform 2"/>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0556094" y="1028700"/>
            <a:ext cx="6703206" cy="8229600"/>
            <a:chOff x="0" y="0"/>
            <a:chExt cx="1086454" cy="1333852"/>
          </a:xfrm>
        </p:grpSpPr>
        <p:sp>
          <p:nvSpPr>
            <p:cNvPr id="4" name="Freeform 4"/>
            <p:cNvSpPr/>
            <p:nvPr/>
          </p:nvSpPr>
          <p:spPr>
            <a:xfrm>
              <a:off x="0" y="0"/>
              <a:ext cx="1086454" cy="1333852"/>
            </a:xfrm>
            <a:custGeom>
              <a:avLst/>
              <a:gdLst/>
              <a:ahLst/>
              <a:cxnLst/>
              <a:rect l="l" t="t" r="r" b="b"/>
              <a:pathLst>
                <a:path w="1086454" h="1333852">
                  <a:moveTo>
                    <a:pt x="57748" y="0"/>
                  </a:moveTo>
                  <a:lnTo>
                    <a:pt x="1028706" y="0"/>
                  </a:lnTo>
                  <a:cubicBezTo>
                    <a:pt x="1060600" y="0"/>
                    <a:pt x="1086454" y="25855"/>
                    <a:pt x="1086454" y="57748"/>
                  </a:cubicBezTo>
                  <a:lnTo>
                    <a:pt x="1086454" y="1276104"/>
                  </a:lnTo>
                  <a:cubicBezTo>
                    <a:pt x="1086454" y="1291420"/>
                    <a:pt x="1080370" y="1306108"/>
                    <a:pt x="1069540" y="1316938"/>
                  </a:cubicBezTo>
                  <a:cubicBezTo>
                    <a:pt x="1058711" y="1327768"/>
                    <a:pt x="1044022" y="1333852"/>
                    <a:pt x="1028706" y="1333852"/>
                  </a:cubicBezTo>
                  <a:lnTo>
                    <a:pt x="57748" y="1333852"/>
                  </a:lnTo>
                  <a:cubicBezTo>
                    <a:pt x="42432" y="1333852"/>
                    <a:pt x="27744" y="1327768"/>
                    <a:pt x="16914" y="1316938"/>
                  </a:cubicBezTo>
                  <a:cubicBezTo>
                    <a:pt x="6084" y="1306108"/>
                    <a:pt x="0" y="1291420"/>
                    <a:pt x="0" y="1276104"/>
                  </a:cubicBezTo>
                  <a:lnTo>
                    <a:pt x="0" y="57748"/>
                  </a:lnTo>
                  <a:cubicBezTo>
                    <a:pt x="0" y="42432"/>
                    <a:pt x="6084" y="27744"/>
                    <a:pt x="16914" y="16914"/>
                  </a:cubicBezTo>
                  <a:cubicBezTo>
                    <a:pt x="27744" y="6084"/>
                    <a:pt x="42432" y="0"/>
                    <a:pt x="57748" y="0"/>
                  </a:cubicBezTo>
                  <a:close/>
                </a:path>
              </a:pathLst>
            </a:custGeom>
            <a:blipFill>
              <a:blip r:embed="rId3"/>
              <a:stretch>
                <a:fillRect t="-356" b="-356"/>
              </a:stretch>
            </a:blipFill>
            <a:ln w="38100" cap="rnd">
              <a:solidFill>
                <a:srgbClr val="047377"/>
              </a:solidFill>
              <a:prstDash val="solid"/>
              <a:round/>
            </a:ln>
          </p:spPr>
          <p:txBody>
            <a:bodyPr/>
            <a:lstStyle/>
            <a:p>
              <a:endParaRPr lang="en-US"/>
            </a:p>
          </p:txBody>
        </p:sp>
      </p:grpSp>
      <p:grpSp>
        <p:nvGrpSpPr>
          <p:cNvPr id="5" name="Group 5"/>
          <p:cNvGrpSpPr/>
          <p:nvPr/>
        </p:nvGrpSpPr>
        <p:grpSpPr>
          <a:xfrm>
            <a:off x="1724321" y="1028700"/>
            <a:ext cx="2496489" cy="621657"/>
            <a:chOff x="0" y="0"/>
            <a:chExt cx="657512" cy="163729"/>
          </a:xfrm>
        </p:grpSpPr>
        <p:sp>
          <p:nvSpPr>
            <p:cNvPr id="6" name="Freeform 6"/>
            <p:cNvSpPr/>
            <p:nvPr/>
          </p:nvSpPr>
          <p:spPr>
            <a:xfrm>
              <a:off x="0" y="0"/>
              <a:ext cx="657512" cy="163729"/>
            </a:xfrm>
            <a:custGeom>
              <a:avLst/>
              <a:gdLst/>
              <a:ahLst/>
              <a:cxnLst/>
              <a:rect l="l" t="t" r="r" b="b"/>
              <a:pathLst>
                <a:path w="657512" h="163729">
                  <a:moveTo>
                    <a:pt x="81864" y="0"/>
                  </a:moveTo>
                  <a:lnTo>
                    <a:pt x="575647" y="0"/>
                  </a:lnTo>
                  <a:cubicBezTo>
                    <a:pt x="620860" y="0"/>
                    <a:pt x="657512" y="36652"/>
                    <a:pt x="657512" y="81864"/>
                  </a:cubicBezTo>
                  <a:lnTo>
                    <a:pt x="657512" y="81864"/>
                  </a:lnTo>
                  <a:cubicBezTo>
                    <a:pt x="657512" y="127077"/>
                    <a:pt x="620860" y="163729"/>
                    <a:pt x="575647" y="163729"/>
                  </a:cubicBezTo>
                  <a:lnTo>
                    <a:pt x="81864" y="163729"/>
                  </a:lnTo>
                  <a:cubicBezTo>
                    <a:pt x="36652" y="163729"/>
                    <a:pt x="0" y="127077"/>
                    <a:pt x="0" y="81864"/>
                  </a:cubicBezTo>
                  <a:lnTo>
                    <a:pt x="0" y="81864"/>
                  </a:lnTo>
                  <a:cubicBezTo>
                    <a:pt x="0" y="36652"/>
                    <a:pt x="36652" y="0"/>
                    <a:pt x="81864" y="0"/>
                  </a:cubicBezTo>
                  <a:close/>
                </a:path>
              </a:pathLst>
            </a:custGeom>
            <a:solidFill>
              <a:srgbClr val="047377"/>
            </a:solidFill>
          </p:spPr>
          <p:txBody>
            <a:bodyPr/>
            <a:lstStyle/>
            <a:p>
              <a:endParaRPr lang="en-US"/>
            </a:p>
          </p:txBody>
        </p:sp>
        <p:sp>
          <p:nvSpPr>
            <p:cNvPr id="7" name="TextBox 7"/>
            <p:cNvSpPr txBox="1"/>
            <p:nvPr/>
          </p:nvSpPr>
          <p:spPr>
            <a:xfrm>
              <a:off x="0" y="-38100"/>
              <a:ext cx="657512" cy="201829"/>
            </a:xfrm>
            <a:prstGeom prst="rect">
              <a:avLst/>
            </a:prstGeom>
          </p:spPr>
          <p:txBody>
            <a:bodyPr lIns="50800" tIns="50800" rIns="50800" bIns="50800" rtlCol="0" anchor="ctr"/>
            <a:lstStyle/>
            <a:p>
              <a:pPr marL="0" lvl="0" indent="0" algn="ctr">
                <a:lnSpc>
                  <a:spcPts val="2964"/>
                </a:lnSpc>
                <a:spcBef>
                  <a:spcPct val="0"/>
                </a:spcBef>
              </a:pPr>
              <a:r>
                <a:rPr lang="en-US" sz="2117">
                  <a:solidFill>
                    <a:srgbClr val="CAF9FF"/>
                  </a:solidFill>
                  <a:latin typeface="Inter"/>
                  <a:ea typeface="Inter"/>
                  <a:cs typeface="Inter"/>
                  <a:sym typeface="Inter"/>
                </a:rPr>
                <a:t>Al-Obour Institute</a:t>
              </a:r>
            </a:p>
          </p:txBody>
        </p:sp>
      </p:grpSp>
      <p:grpSp>
        <p:nvGrpSpPr>
          <p:cNvPr id="8" name="Group 8"/>
          <p:cNvGrpSpPr/>
          <p:nvPr/>
        </p:nvGrpSpPr>
        <p:grpSpPr>
          <a:xfrm>
            <a:off x="1028700" y="1028700"/>
            <a:ext cx="619702" cy="621657"/>
            <a:chOff x="0" y="0"/>
            <a:chExt cx="163214" cy="163729"/>
          </a:xfrm>
        </p:grpSpPr>
        <p:sp>
          <p:nvSpPr>
            <p:cNvPr id="9" name="Freeform 9"/>
            <p:cNvSpPr/>
            <p:nvPr/>
          </p:nvSpPr>
          <p:spPr>
            <a:xfrm>
              <a:off x="0" y="0"/>
              <a:ext cx="163214" cy="163729"/>
            </a:xfrm>
            <a:custGeom>
              <a:avLst/>
              <a:gdLst/>
              <a:ahLst/>
              <a:cxnLst/>
              <a:rect l="l" t="t" r="r" b="b"/>
              <a:pathLst>
                <a:path w="163214" h="163729">
                  <a:moveTo>
                    <a:pt x="81607" y="0"/>
                  </a:moveTo>
                  <a:lnTo>
                    <a:pt x="81607" y="0"/>
                  </a:lnTo>
                  <a:cubicBezTo>
                    <a:pt x="103250" y="0"/>
                    <a:pt x="124007" y="8598"/>
                    <a:pt x="139312" y="23902"/>
                  </a:cubicBezTo>
                  <a:cubicBezTo>
                    <a:pt x="154616" y="39206"/>
                    <a:pt x="163214" y="59963"/>
                    <a:pt x="163214" y="81607"/>
                  </a:cubicBezTo>
                  <a:lnTo>
                    <a:pt x="163214" y="82122"/>
                  </a:lnTo>
                  <a:cubicBezTo>
                    <a:pt x="163214" y="127192"/>
                    <a:pt x="126677" y="163729"/>
                    <a:pt x="81607" y="163729"/>
                  </a:cubicBezTo>
                  <a:lnTo>
                    <a:pt x="81607" y="163729"/>
                  </a:lnTo>
                  <a:cubicBezTo>
                    <a:pt x="36537" y="163729"/>
                    <a:pt x="0" y="127192"/>
                    <a:pt x="0" y="82122"/>
                  </a:cubicBezTo>
                  <a:lnTo>
                    <a:pt x="0" y="81607"/>
                  </a:lnTo>
                  <a:cubicBezTo>
                    <a:pt x="0" y="36537"/>
                    <a:pt x="36537" y="0"/>
                    <a:pt x="81607" y="0"/>
                  </a:cubicBezTo>
                  <a:close/>
                </a:path>
              </a:pathLst>
            </a:custGeom>
            <a:solidFill>
              <a:srgbClr val="047377"/>
            </a:solidFill>
          </p:spPr>
          <p:txBody>
            <a:bodyPr/>
            <a:lstStyle/>
            <a:p>
              <a:endParaRPr lang="en-US"/>
            </a:p>
          </p:txBody>
        </p:sp>
        <p:sp>
          <p:nvSpPr>
            <p:cNvPr id="10" name="TextBox 10"/>
            <p:cNvSpPr txBox="1"/>
            <p:nvPr/>
          </p:nvSpPr>
          <p:spPr>
            <a:xfrm>
              <a:off x="0" y="-38100"/>
              <a:ext cx="163214" cy="201829"/>
            </a:xfrm>
            <a:prstGeom prst="rect">
              <a:avLst/>
            </a:prstGeom>
          </p:spPr>
          <p:txBody>
            <a:bodyPr lIns="50800" tIns="50800" rIns="50800" bIns="50800" rtlCol="0" anchor="ctr"/>
            <a:lstStyle/>
            <a:p>
              <a:pPr marL="0" lvl="0" indent="0" algn="ctr">
                <a:lnSpc>
                  <a:spcPts val="3079"/>
                </a:lnSpc>
                <a:spcBef>
                  <a:spcPct val="0"/>
                </a:spcBef>
              </a:pPr>
              <a:endParaRPr/>
            </a:p>
          </p:txBody>
        </p:sp>
      </p:grpSp>
      <p:sp>
        <p:nvSpPr>
          <p:cNvPr id="11" name="Freeform 11"/>
          <p:cNvSpPr/>
          <p:nvPr/>
        </p:nvSpPr>
        <p:spPr>
          <a:xfrm>
            <a:off x="1122398" y="1078200"/>
            <a:ext cx="429729" cy="521034"/>
          </a:xfrm>
          <a:custGeom>
            <a:avLst/>
            <a:gdLst/>
            <a:ahLst/>
            <a:cxnLst/>
            <a:rect l="l" t="t" r="r" b="b"/>
            <a:pathLst>
              <a:path w="429729" h="521034">
                <a:moveTo>
                  <a:pt x="0" y="0"/>
                </a:moveTo>
                <a:lnTo>
                  <a:pt x="429729" y="0"/>
                </a:lnTo>
                <a:lnTo>
                  <a:pt x="429729" y="521034"/>
                </a:lnTo>
                <a:lnTo>
                  <a:pt x="0" y="521034"/>
                </a:lnTo>
                <a:lnTo>
                  <a:pt x="0" y="0"/>
                </a:lnTo>
                <a:close/>
              </a:path>
            </a:pathLst>
          </a:custGeom>
          <a:blipFill>
            <a:blip r:embed="rId4"/>
            <a:stretch>
              <a:fillRect/>
            </a:stretch>
          </a:blipFill>
        </p:spPr>
        <p:txBody>
          <a:bodyPr/>
          <a:lstStyle/>
          <a:p>
            <a:endParaRPr lang="en-US"/>
          </a:p>
        </p:txBody>
      </p:sp>
      <p:grpSp>
        <p:nvGrpSpPr>
          <p:cNvPr id="12" name="Group 12"/>
          <p:cNvGrpSpPr/>
          <p:nvPr/>
        </p:nvGrpSpPr>
        <p:grpSpPr>
          <a:xfrm>
            <a:off x="1028700" y="6799122"/>
            <a:ext cx="8837325" cy="898227"/>
            <a:chOff x="0" y="0"/>
            <a:chExt cx="2327526" cy="236570"/>
          </a:xfrm>
        </p:grpSpPr>
        <p:sp>
          <p:nvSpPr>
            <p:cNvPr id="13" name="Freeform 13"/>
            <p:cNvSpPr/>
            <p:nvPr/>
          </p:nvSpPr>
          <p:spPr>
            <a:xfrm>
              <a:off x="0" y="0"/>
              <a:ext cx="2327526" cy="236570"/>
            </a:xfrm>
            <a:custGeom>
              <a:avLst/>
              <a:gdLst/>
              <a:ahLst/>
              <a:cxnLst/>
              <a:rect l="l" t="t" r="r" b="b"/>
              <a:pathLst>
                <a:path w="2327526" h="236570">
                  <a:moveTo>
                    <a:pt x="87605" y="0"/>
                  </a:moveTo>
                  <a:lnTo>
                    <a:pt x="2239921" y="0"/>
                  </a:lnTo>
                  <a:cubicBezTo>
                    <a:pt x="2288304" y="0"/>
                    <a:pt x="2327526" y="39222"/>
                    <a:pt x="2327526" y="87605"/>
                  </a:cubicBezTo>
                  <a:lnTo>
                    <a:pt x="2327526" y="148965"/>
                  </a:lnTo>
                  <a:cubicBezTo>
                    <a:pt x="2327526" y="197348"/>
                    <a:pt x="2288304" y="236570"/>
                    <a:pt x="2239921" y="236570"/>
                  </a:cubicBezTo>
                  <a:lnTo>
                    <a:pt x="87605" y="236570"/>
                  </a:lnTo>
                  <a:cubicBezTo>
                    <a:pt x="39222" y="236570"/>
                    <a:pt x="0" y="197348"/>
                    <a:pt x="0" y="148965"/>
                  </a:cubicBezTo>
                  <a:lnTo>
                    <a:pt x="0" y="87605"/>
                  </a:lnTo>
                  <a:cubicBezTo>
                    <a:pt x="0" y="39222"/>
                    <a:pt x="39222" y="0"/>
                    <a:pt x="87605" y="0"/>
                  </a:cubicBezTo>
                  <a:close/>
                </a:path>
              </a:pathLst>
            </a:custGeom>
            <a:solidFill>
              <a:srgbClr val="047377"/>
            </a:solidFill>
          </p:spPr>
          <p:txBody>
            <a:bodyPr/>
            <a:lstStyle/>
            <a:p>
              <a:endParaRPr lang="en-US"/>
            </a:p>
          </p:txBody>
        </p:sp>
        <p:sp>
          <p:nvSpPr>
            <p:cNvPr id="14" name="TextBox 14"/>
            <p:cNvSpPr txBox="1"/>
            <p:nvPr/>
          </p:nvSpPr>
          <p:spPr>
            <a:xfrm>
              <a:off x="0" y="-47625"/>
              <a:ext cx="2327526" cy="284195"/>
            </a:xfrm>
            <a:prstGeom prst="rect">
              <a:avLst/>
            </a:prstGeom>
          </p:spPr>
          <p:txBody>
            <a:bodyPr lIns="50800" tIns="50800" rIns="50800" bIns="50800" rtlCol="0" anchor="ctr"/>
            <a:lstStyle/>
            <a:p>
              <a:pPr marL="0" lvl="0" indent="0" algn="ctr">
                <a:lnSpc>
                  <a:spcPts val="3504"/>
                </a:lnSpc>
                <a:spcBef>
                  <a:spcPct val="0"/>
                </a:spcBef>
              </a:pPr>
              <a:r>
                <a:rPr lang="en-US" sz="2502">
                  <a:solidFill>
                    <a:srgbClr val="CAF9FF"/>
                  </a:solidFill>
                  <a:latin typeface="Inter"/>
                  <a:ea typeface="Inter"/>
                  <a:cs typeface="Inter"/>
                  <a:sym typeface="Inter"/>
                </a:rPr>
                <a:t>Hardware &amp; Cisco Packet Tracer Implementation of a Secure Enterprise Network</a:t>
              </a:r>
            </a:p>
          </p:txBody>
        </p:sp>
      </p:grpSp>
      <p:sp>
        <p:nvSpPr>
          <p:cNvPr id="15" name="TextBox 15"/>
          <p:cNvSpPr txBox="1"/>
          <p:nvPr/>
        </p:nvSpPr>
        <p:spPr>
          <a:xfrm>
            <a:off x="1086125" y="2860696"/>
            <a:ext cx="8837325" cy="3384136"/>
          </a:xfrm>
          <a:prstGeom prst="rect">
            <a:avLst/>
          </a:prstGeom>
        </p:spPr>
        <p:txBody>
          <a:bodyPr lIns="0" tIns="0" rIns="0" bIns="0" rtlCol="0" anchor="t">
            <a:spAutoFit/>
          </a:bodyPr>
          <a:lstStyle/>
          <a:p>
            <a:pPr marL="0" lvl="0" indent="0" algn="l">
              <a:lnSpc>
                <a:spcPts val="8767"/>
              </a:lnSpc>
            </a:pPr>
            <a:r>
              <a:rPr lang="en-US" sz="9427" spc="-207">
                <a:solidFill>
                  <a:srgbClr val="047377"/>
                </a:solidFill>
                <a:latin typeface="Anton"/>
                <a:ea typeface="Anton"/>
                <a:cs typeface="Anton"/>
                <a:sym typeface="Anton"/>
              </a:rPr>
              <a:t>SON PROJECT: SIMULATION OF NETWORK</a:t>
            </a:r>
          </a:p>
        </p:txBody>
      </p:sp>
      <p:sp>
        <p:nvSpPr>
          <p:cNvPr id="16" name="TextBox 16"/>
          <p:cNvSpPr txBox="1"/>
          <p:nvPr/>
        </p:nvSpPr>
        <p:spPr>
          <a:xfrm>
            <a:off x="1086125" y="8008620"/>
            <a:ext cx="8779900" cy="621030"/>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47377"/>
                </a:solidFill>
                <a:latin typeface="Inter"/>
                <a:ea typeface="Inter"/>
                <a:cs typeface="Inter"/>
                <a:sym typeface="Inter"/>
              </a:rPr>
              <a:t>Al-Obour High Institute For Management and Informatics | Academic Year 2025-2026 | Team CS-21 (8 Students) | Graduation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596720" y="718982"/>
            <a:ext cx="8547280" cy="8229600"/>
            <a:chOff x="0" y="0"/>
            <a:chExt cx="1385342" cy="1333852"/>
          </a:xfrm>
        </p:grpSpPr>
        <p:sp>
          <p:nvSpPr>
            <p:cNvPr id="3" name="Freeform 3"/>
            <p:cNvSpPr/>
            <p:nvPr/>
          </p:nvSpPr>
          <p:spPr>
            <a:xfrm>
              <a:off x="0" y="0"/>
              <a:ext cx="1385342" cy="1333852"/>
            </a:xfrm>
            <a:custGeom>
              <a:avLst/>
              <a:gdLst/>
              <a:ahLst/>
              <a:cxnLst/>
              <a:rect l="l" t="t" r="r" b="b"/>
              <a:pathLst>
                <a:path w="1385342" h="1333852">
                  <a:moveTo>
                    <a:pt x="45289" y="0"/>
                  </a:moveTo>
                  <a:lnTo>
                    <a:pt x="1340053" y="0"/>
                  </a:lnTo>
                  <a:cubicBezTo>
                    <a:pt x="1352064" y="0"/>
                    <a:pt x="1363583" y="4771"/>
                    <a:pt x="1372077" y="13265"/>
                  </a:cubicBezTo>
                  <a:cubicBezTo>
                    <a:pt x="1380570" y="21758"/>
                    <a:pt x="1385342" y="33277"/>
                    <a:pt x="1385342" y="45289"/>
                  </a:cubicBezTo>
                  <a:lnTo>
                    <a:pt x="1385342" y="1288563"/>
                  </a:lnTo>
                  <a:cubicBezTo>
                    <a:pt x="1385342" y="1300575"/>
                    <a:pt x="1380570" y="1312094"/>
                    <a:pt x="1372077" y="1320587"/>
                  </a:cubicBezTo>
                  <a:cubicBezTo>
                    <a:pt x="1363583" y="1329081"/>
                    <a:pt x="1352064" y="1333852"/>
                    <a:pt x="1340053" y="1333852"/>
                  </a:cubicBezTo>
                  <a:lnTo>
                    <a:pt x="45289" y="1333852"/>
                  </a:lnTo>
                  <a:cubicBezTo>
                    <a:pt x="33277" y="1333852"/>
                    <a:pt x="21758" y="1329081"/>
                    <a:pt x="13265" y="1320587"/>
                  </a:cubicBezTo>
                  <a:cubicBezTo>
                    <a:pt x="4771" y="1312094"/>
                    <a:pt x="0" y="1300575"/>
                    <a:pt x="0" y="1288563"/>
                  </a:cubicBezTo>
                  <a:lnTo>
                    <a:pt x="0" y="45289"/>
                  </a:lnTo>
                  <a:cubicBezTo>
                    <a:pt x="0" y="33277"/>
                    <a:pt x="4771" y="21758"/>
                    <a:pt x="13265" y="13265"/>
                  </a:cubicBezTo>
                  <a:cubicBezTo>
                    <a:pt x="21758" y="4771"/>
                    <a:pt x="33277" y="0"/>
                    <a:pt x="45289" y="0"/>
                  </a:cubicBezTo>
                  <a:close/>
                </a:path>
              </a:pathLst>
            </a:custGeom>
            <a:blipFill>
              <a:blip r:embed="rId2"/>
              <a:stretch>
                <a:fillRect t="-1930" b="-1930"/>
              </a:stretch>
            </a:blipFill>
            <a:ln w="38100" cap="rnd">
              <a:solidFill>
                <a:srgbClr val="047377"/>
              </a:solidFill>
              <a:prstDash val="solid"/>
              <a:round/>
            </a:ln>
          </p:spPr>
          <p:txBody>
            <a:bodyPr/>
            <a:lstStyle/>
            <a:p>
              <a:endParaRPr lang="en-US"/>
            </a:p>
          </p:txBody>
        </p:sp>
      </p:grpSp>
      <p:grpSp>
        <p:nvGrpSpPr>
          <p:cNvPr id="4" name="Group 4"/>
          <p:cNvGrpSpPr/>
          <p:nvPr/>
        </p:nvGrpSpPr>
        <p:grpSpPr>
          <a:xfrm>
            <a:off x="9915244" y="4093690"/>
            <a:ext cx="4382454" cy="682521"/>
            <a:chOff x="0" y="0"/>
            <a:chExt cx="1154227" cy="179759"/>
          </a:xfrm>
        </p:grpSpPr>
        <p:sp>
          <p:nvSpPr>
            <p:cNvPr id="5" name="Freeform 5"/>
            <p:cNvSpPr/>
            <p:nvPr/>
          </p:nvSpPr>
          <p:spPr>
            <a:xfrm>
              <a:off x="0" y="0"/>
              <a:ext cx="1154227" cy="179759"/>
            </a:xfrm>
            <a:custGeom>
              <a:avLst/>
              <a:gdLst/>
              <a:ahLst/>
              <a:cxnLst/>
              <a:rect l="l" t="t" r="r" b="b"/>
              <a:pathLst>
                <a:path w="1154227" h="179759">
                  <a:moveTo>
                    <a:pt x="89879" y="0"/>
                  </a:moveTo>
                  <a:lnTo>
                    <a:pt x="1064347" y="0"/>
                  </a:lnTo>
                  <a:cubicBezTo>
                    <a:pt x="1088185" y="0"/>
                    <a:pt x="1111046" y="9469"/>
                    <a:pt x="1127902" y="26325"/>
                  </a:cubicBezTo>
                  <a:cubicBezTo>
                    <a:pt x="1144757" y="43181"/>
                    <a:pt x="1154227" y="66042"/>
                    <a:pt x="1154227" y="89879"/>
                  </a:cubicBezTo>
                  <a:lnTo>
                    <a:pt x="1154227" y="89879"/>
                  </a:lnTo>
                  <a:cubicBezTo>
                    <a:pt x="1154227" y="139518"/>
                    <a:pt x="1113986" y="179759"/>
                    <a:pt x="1064347"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154227"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CS-21 Team Members</a:t>
              </a:r>
            </a:p>
          </p:txBody>
        </p:sp>
      </p:grpSp>
      <p:sp>
        <p:nvSpPr>
          <p:cNvPr id="7" name="TextBox 7"/>
          <p:cNvSpPr txBox="1"/>
          <p:nvPr/>
        </p:nvSpPr>
        <p:spPr>
          <a:xfrm>
            <a:off x="10377669" y="1228725"/>
            <a:ext cx="6356199" cy="1888077"/>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PROJECT TEAM &amp; SUPERVISION</a:t>
            </a:r>
          </a:p>
        </p:txBody>
      </p:sp>
      <p:sp>
        <p:nvSpPr>
          <p:cNvPr id="8" name="TextBox 8"/>
          <p:cNvSpPr txBox="1"/>
          <p:nvPr/>
        </p:nvSpPr>
        <p:spPr>
          <a:xfrm>
            <a:off x="10377669" y="5105400"/>
            <a:ext cx="6881631" cy="3159157"/>
          </a:xfrm>
          <a:prstGeom prst="rect">
            <a:avLst/>
          </a:prstGeom>
        </p:spPr>
        <p:txBody>
          <a:bodyPr lIns="0" tIns="0" rIns="0" bIns="0" rtlCol="0" anchor="t">
            <a:spAutoFit/>
          </a:bodyPr>
          <a:lstStyle/>
          <a:p>
            <a:pPr marL="0" lvl="0" indent="0" algn="just">
              <a:lnSpc>
                <a:spcPts val="2798"/>
              </a:lnSpc>
              <a:spcBef>
                <a:spcPct val="0"/>
              </a:spcBef>
            </a:pPr>
            <a:r>
              <a:rPr lang="en-US" sz="1998" b="1">
                <a:solidFill>
                  <a:srgbClr val="047377"/>
                </a:solidFill>
                <a:latin typeface="Inter Bold"/>
                <a:ea typeface="Inter Bold"/>
                <a:cs typeface="Inter Bold"/>
                <a:sym typeface="Inter Bold"/>
              </a:rPr>
              <a:t>1-Mohamed Abdelmonem Ashmawy             </a:t>
            </a:r>
          </a:p>
          <a:p>
            <a:pPr marL="0" lvl="0" indent="0" algn="just">
              <a:lnSpc>
                <a:spcPts val="2798"/>
              </a:lnSpc>
              <a:spcBef>
                <a:spcPct val="0"/>
              </a:spcBef>
            </a:pPr>
            <a:r>
              <a:rPr lang="en-US" sz="1998" b="1">
                <a:solidFill>
                  <a:srgbClr val="047377"/>
                </a:solidFill>
                <a:latin typeface="Inter Bold"/>
                <a:ea typeface="Inter Bold"/>
                <a:cs typeface="Inter Bold"/>
                <a:sym typeface="Inter Bold"/>
              </a:rPr>
              <a:t>2-Abdelrahman Ahmed Owais          </a:t>
            </a:r>
          </a:p>
          <a:p>
            <a:pPr marL="0" lvl="0" indent="0" algn="just">
              <a:lnSpc>
                <a:spcPts val="2798"/>
              </a:lnSpc>
              <a:spcBef>
                <a:spcPct val="0"/>
              </a:spcBef>
            </a:pPr>
            <a:r>
              <a:rPr lang="en-US" sz="1998" b="1">
                <a:solidFill>
                  <a:srgbClr val="047377"/>
                </a:solidFill>
                <a:latin typeface="Inter Bold"/>
                <a:ea typeface="Inter Bold"/>
                <a:cs typeface="Inter Bold"/>
                <a:sym typeface="Inter Bold"/>
              </a:rPr>
              <a:t>3-Abdelrahman Mohamed Abdelaziz </a:t>
            </a:r>
          </a:p>
          <a:p>
            <a:pPr marL="0" lvl="0" indent="0" algn="just">
              <a:lnSpc>
                <a:spcPts val="2798"/>
              </a:lnSpc>
              <a:spcBef>
                <a:spcPct val="0"/>
              </a:spcBef>
            </a:pPr>
            <a:r>
              <a:rPr lang="en-US" sz="1998" b="1">
                <a:solidFill>
                  <a:srgbClr val="047377"/>
                </a:solidFill>
                <a:latin typeface="Inter Bold"/>
                <a:ea typeface="Inter Bold"/>
                <a:cs typeface="Inter Bold"/>
                <a:sym typeface="Inter Bold"/>
              </a:rPr>
              <a:t>4- Abdelrahman Elsayed Roman </a:t>
            </a:r>
          </a:p>
          <a:p>
            <a:pPr marL="0" lvl="0" indent="0" algn="just">
              <a:lnSpc>
                <a:spcPts val="2798"/>
              </a:lnSpc>
              <a:spcBef>
                <a:spcPct val="0"/>
              </a:spcBef>
            </a:pPr>
            <a:r>
              <a:rPr lang="en-US" sz="1998" b="1">
                <a:solidFill>
                  <a:srgbClr val="047377"/>
                </a:solidFill>
                <a:latin typeface="Inter Bold"/>
                <a:ea typeface="Inter Bold"/>
                <a:cs typeface="Inter Bold"/>
                <a:sym typeface="Inter Bold"/>
              </a:rPr>
              <a:t>5-Mohamed Omar                                  </a:t>
            </a:r>
          </a:p>
          <a:p>
            <a:pPr marL="0" lvl="0" indent="0" algn="just">
              <a:lnSpc>
                <a:spcPts val="2798"/>
              </a:lnSpc>
              <a:spcBef>
                <a:spcPct val="0"/>
              </a:spcBef>
            </a:pPr>
            <a:r>
              <a:rPr lang="en-US" sz="1998" b="1">
                <a:solidFill>
                  <a:srgbClr val="047377"/>
                </a:solidFill>
                <a:latin typeface="Inter Bold"/>
                <a:ea typeface="Inter Bold"/>
                <a:cs typeface="Inter Bold"/>
                <a:sym typeface="Inter Bold"/>
              </a:rPr>
              <a:t>6-Toka Mohamed Mahmoud</a:t>
            </a:r>
          </a:p>
          <a:p>
            <a:pPr marL="0" lvl="0" indent="0" algn="just">
              <a:lnSpc>
                <a:spcPts val="2798"/>
              </a:lnSpc>
              <a:spcBef>
                <a:spcPct val="0"/>
              </a:spcBef>
            </a:pPr>
            <a:r>
              <a:rPr lang="en-US" sz="1998" b="1">
                <a:solidFill>
                  <a:srgbClr val="047377"/>
                </a:solidFill>
                <a:latin typeface="Inter Bold"/>
                <a:ea typeface="Inter Bold"/>
                <a:cs typeface="Inter Bold"/>
                <a:sym typeface="Inter Bold"/>
              </a:rPr>
              <a:t>7-Salma Nabil Ahmed                           </a:t>
            </a:r>
          </a:p>
          <a:p>
            <a:pPr marL="0" lvl="0" indent="0" algn="just">
              <a:lnSpc>
                <a:spcPts val="2798"/>
              </a:lnSpc>
              <a:spcBef>
                <a:spcPct val="0"/>
              </a:spcBef>
            </a:pPr>
            <a:r>
              <a:rPr lang="en-US" sz="1998" b="1">
                <a:solidFill>
                  <a:srgbClr val="047377"/>
                </a:solidFill>
                <a:latin typeface="Inter Bold"/>
                <a:ea typeface="Inter Bold"/>
                <a:cs typeface="Inter Bold"/>
                <a:sym typeface="Inter Bold"/>
              </a:rPr>
              <a:t>8-Tasneem Fathy Rawash </a:t>
            </a:r>
          </a:p>
          <a:p>
            <a:pPr marL="0" lvl="0" indent="0" algn="just">
              <a:lnSpc>
                <a:spcPts val="2798"/>
              </a:lnSpc>
              <a:spcBef>
                <a:spcPct val="0"/>
              </a:spcBef>
            </a:pPr>
            <a:endParaRPr lang="en-US" sz="1998" b="1">
              <a:solidFill>
                <a:srgbClr val="047377"/>
              </a:solidFill>
              <a:latin typeface="Inter Bold"/>
              <a:ea typeface="Inter Bold"/>
              <a:cs typeface="Inter Bold"/>
              <a:sym typeface="Inter Bold"/>
            </a:endParaRPr>
          </a:p>
        </p:txBody>
      </p:sp>
      <p:sp>
        <p:nvSpPr>
          <p:cNvPr id="9" name="Freeform 9"/>
          <p:cNvSpPr/>
          <p:nvPr/>
        </p:nvSpPr>
        <p:spPr>
          <a:xfrm>
            <a:off x="0" y="-9650467"/>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8444631" y="1028700"/>
            <a:ext cx="8814669" cy="8229600"/>
            <a:chOff x="0" y="0"/>
            <a:chExt cx="1428680" cy="1333852"/>
          </a:xfrm>
        </p:grpSpPr>
        <p:sp>
          <p:nvSpPr>
            <p:cNvPr id="3" name="Freeform 3"/>
            <p:cNvSpPr/>
            <p:nvPr/>
          </p:nvSpPr>
          <p:spPr>
            <a:xfrm>
              <a:off x="0" y="0"/>
              <a:ext cx="1428680" cy="1333852"/>
            </a:xfrm>
            <a:custGeom>
              <a:avLst/>
              <a:gdLst/>
              <a:ahLst/>
              <a:cxnLst/>
              <a:rect l="l" t="t" r="r" b="b"/>
              <a:pathLst>
                <a:path w="1428680" h="1333852">
                  <a:moveTo>
                    <a:pt x="43915" y="0"/>
                  </a:moveTo>
                  <a:lnTo>
                    <a:pt x="1384765" y="0"/>
                  </a:lnTo>
                  <a:cubicBezTo>
                    <a:pt x="1396412" y="0"/>
                    <a:pt x="1407582" y="4627"/>
                    <a:pt x="1415818" y="12862"/>
                  </a:cubicBezTo>
                  <a:cubicBezTo>
                    <a:pt x="1424053" y="21098"/>
                    <a:pt x="1428680" y="32268"/>
                    <a:pt x="1428680" y="43915"/>
                  </a:cubicBezTo>
                  <a:lnTo>
                    <a:pt x="1428680" y="1289937"/>
                  </a:lnTo>
                  <a:cubicBezTo>
                    <a:pt x="1428680" y="1314191"/>
                    <a:pt x="1409019" y="1333852"/>
                    <a:pt x="1384765" y="1333852"/>
                  </a:cubicBezTo>
                  <a:lnTo>
                    <a:pt x="43915" y="1333852"/>
                  </a:lnTo>
                  <a:cubicBezTo>
                    <a:pt x="19661" y="1333852"/>
                    <a:pt x="0" y="1314191"/>
                    <a:pt x="0" y="1289937"/>
                  </a:cubicBezTo>
                  <a:lnTo>
                    <a:pt x="0" y="43915"/>
                  </a:lnTo>
                  <a:cubicBezTo>
                    <a:pt x="0" y="19661"/>
                    <a:pt x="19661" y="0"/>
                    <a:pt x="43915" y="0"/>
                  </a:cubicBezTo>
                  <a:close/>
                </a:path>
              </a:pathLst>
            </a:custGeom>
            <a:blipFill>
              <a:blip r:embed="rId2"/>
              <a:stretch>
                <a:fillRect t="-3554" b="-3554"/>
              </a:stretch>
            </a:blipFill>
            <a:ln w="38100" cap="rnd">
              <a:solidFill>
                <a:srgbClr val="047377"/>
              </a:solidFill>
              <a:prstDash val="solid"/>
              <a:round/>
            </a:ln>
          </p:spPr>
          <p:txBody>
            <a:bodyPr/>
            <a:lstStyle/>
            <a:p>
              <a:endParaRPr lang="en-US"/>
            </a:p>
          </p:txBody>
        </p:sp>
      </p:grpSp>
      <p:grpSp>
        <p:nvGrpSpPr>
          <p:cNvPr id="4" name="Group 4"/>
          <p:cNvGrpSpPr/>
          <p:nvPr/>
        </p:nvGrpSpPr>
        <p:grpSpPr>
          <a:xfrm>
            <a:off x="842776" y="3925619"/>
            <a:ext cx="6125595" cy="682521"/>
            <a:chOff x="0" y="0"/>
            <a:chExt cx="1613325" cy="179759"/>
          </a:xfrm>
        </p:grpSpPr>
        <p:sp>
          <p:nvSpPr>
            <p:cNvPr id="5" name="Freeform 5"/>
            <p:cNvSpPr/>
            <p:nvPr/>
          </p:nvSpPr>
          <p:spPr>
            <a:xfrm>
              <a:off x="0" y="0"/>
              <a:ext cx="1613325" cy="179759"/>
            </a:xfrm>
            <a:custGeom>
              <a:avLst/>
              <a:gdLst/>
              <a:ahLst/>
              <a:cxnLst/>
              <a:rect l="l" t="t" r="r" b="b"/>
              <a:pathLst>
                <a:path w="1613325" h="179759">
                  <a:moveTo>
                    <a:pt x="89879" y="0"/>
                  </a:moveTo>
                  <a:lnTo>
                    <a:pt x="1523446" y="0"/>
                  </a:lnTo>
                  <a:cubicBezTo>
                    <a:pt x="1547284" y="0"/>
                    <a:pt x="1570145" y="9469"/>
                    <a:pt x="1587000" y="26325"/>
                  </a:cubicBezTo>
                  <a:cubicBezTo>
                    <a:pt x="1603856" y="43181"/>
                    <a:pt x="1613325" y="66042"/>
                    <a:pt x="1613325" y="89879"/>
                  </a:cubicBezTo>
                  <a:lnTo>
                    <a:pt x="1613325" y="89879"/>
                  </a:lnTo>
                  <a:cubicBezTo>
                    <a:pt x="1613325" y="139518"/>
                    <a:pt x="1573085" y="179759"/>
                    <a:pt x="1523446"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613325" cy="227384"/>
            </a:xfrm>
            <a:prstGeom prst="rect">
              <a:avLst/>
            </a:prstGeom>
          </p:spPr>
          <p:txBody>
            <a:bodyPr lIns="50800" tIns="50800" rIns="50800" bIns="50800" rtlCol="0" anchor="ctr"/>
            <a:lstStyle/>
            <a:p>
              <a:pPr marL="0" lvl="0" indent="0" algn="ctr">
                <a:lnSpc>
                  <a:spcPts val="3359"/>
                </a:lnSpc>
                <a:spcBef>
                  <a:spcPct val="0"/>
                </a:spcBef>
              </a:pPr>
              <a:r>
                <a:rPr lang="en-US" sz="2399">
                  <a:solidFill>
                    <a:srgbClr val="CAF9FF"/>
                  </a:solidFill>
                  <a:latin typeface="Inter"/>
                  <a:ea typeface="Inter"/>
                  <a:cs typeface="Inter"/>
                  <a:sym typeface="Inter"/>
                </a:rPr>
                <a:t>Core Goals of the SON Project</a:t>
              </a:r>
            </a:p>
          </p:txBody>
        </p:sp>
      </p:grpSp>
      <p:sp>
        <p:nvSpPr>
          <p:cNvPr id="7" name="TextBox 7"/>
          <p:cNvSpPr txBox="1"/>
          <p:nvPr/>
        </p:nvSpPr>
        <p:spPr>
          <a:xfrm>
            <a:off x="1086125" y="1228725"/>
            <a:ext cx="7358506" cy="976689"/>
          </a:xfrm>
          <a:prstGeom prst="rect">
            <a:avLst/>
          </a:prstGeom>
        </p:spPr>
        <p:txBody>
          <a:bodyPr lIns="0" tIns="0" rIns="0" bIns="0" rtlCol="0" anchor="t">
            <a:spAutoFit/>
          </a:bodyPr>
          <a:lstStyle/>
          <a:p>
            <a:pPr marL="0" lvl="0" indent="0" algn="l">
              <a:lnSpc>
                <a:spcPts val="7191"/>
              </a:lnSpc>
            </a:pPr>
            <a:r>
              <a:rPr lang="en-US" sz="7732" spc="-170">
                <a:solidFill>
                  <a:srgbClr val="047377"/>
                </a:solidFill>
                <a:latin typeface="Anton"/>
                <a:ea typeface="Anton"/>
                <a:cs typeface="Anton"/>
                <a:sym typeface="Anton"/>
              </a:rPr>
              <a:t>PROJECT OBJECTIVES</a:t>
            </a:r>
          </a:p>
        </p:txBody>
      </p:sp>
      <p:sp>
        <p:nvSpPr>
          <p:cNvPr id="8" name="TextBox 8"/>
          <p:cNvSpPr txBox="1"/>
          <p:nvPr/>
        </p:nvSpPr>
        <p:spPr>
          <a:xfrm>
            <a:off x="1086125" y="5612706"/>
            <a:ext cx="6963449" cy="2135055"/>
          </a:xfrm>
          <a:prstGeom prst="rect">
            <a:avLst/>
          </a:prstGeom>
        </p:spPr>
        <p:txBody>
          <a:bodyPr lIns="0" tIns="0" rIns="0" bIns="0" rtlCol="0" anchor="t">
            <a:spAutoFit/>
          </a:bodyPr>
          <a:lstStyle/>
          <a:p>
            <a:pPr marL="0" lvl="0" indent="0" algn="just">
              <a:lnSpc>
                <a:spcPts val="2472"/>
              </a:lnSpc>
              <a:spcBef>
                <a:spcPct val="0"/>
              </a:spcBef>
            </a:pPr>
            <a:r>
              <a:rPr lang="en-US" sz="1766">
                <a:solidFill>
                  <a:srgbClr val="047377"/>
                </a:solidFill>
                <a:latin typeface="Inter"/>
                <a:ea typeface="Inter"/>
                <a:cs typeface="Inter"/>
                <a:sym typeface="Inter"/>
              </a:rPr>
              <a:t>• Bridge theory and practical networking through hands-on implementation</a:t>
            </a:r>
          </a:p>
          <a:p>
            <a:pPr marL="0" lvl="0" indent="0" algn="just">
              <a:lnSpc>
                <a:spcPts val="2472"/>
              </a:lnSpc>
              <a:spcBef>
                <a:spcPct val="0"/>
              </a:spcBef>
            </a:pPr>
            <a:r>
              <a:rPr lang="en-US" sz="1766">
                <a:solidFill>
                  <a:srgbClr val="047377"/>
                </a:solidFill>
                <a:latin typeface="Inter"/>
                <a:ea typeface="Inter"/>
                <a:cs typeface="Inter"/>
                <a:sym typeface="Inter"/>
              </a:rPr>
              <a:t>• Design a secure, high-availability enterprise network architecture</a:t>
            </a:r>
          </a:p>
          <a:p>
            <a:pPr marL="0" lvl="0" indent="0" algn="just">
              <a:lnSpc>
                <a:spcPts val="2472"/>
              </a:lnSpc>
              <a:spcBef>
                <a:spcPct val="0"/>
              </a:spcBef>
            </a:pPr>
            <a:r>
              <a:rPr lang="en-US" sz="1766">
                <a:solidFill>
                  <a:srgbClr val="047377"/>
                </a:solidFill>
                <a:latin typeface="Inter"/>
                <a:ea typeface="Inter"/>
                <a:cs typeface="Inter"/>
                <a:sym typeface="Inter"/>
              </a:rPr>
              <a:t>• Implement dual ISP failover and cybersecurity best practices</a:t>
            </a:r>
          </a:p>
          <a:p>
            <a:pPr marL="0" lvl="0" indent="0" algn="just">
              <a:lnSpc>
                <a:spcPts val="2472"/>
              </a:lnSpc>
              <a:spcBef>
                <a:spcPct val="0"/>
              </a:spcBef>
            </a:pPr>
            <a:r>
              <a:rPr lang="en-US" sz="1766">
                <a:solidFill>
                  <a:srgbClr val="047377"/>
                </a:solidFill>
                <a:latin typeface="Inter"/>
                <a:ea typeface="Inter"/>
                <a:cs typeface="Inter"/>
                <a:sym typeface="Inter"/>
              </a:rPr>
              <a:t>• Develop an educational interactive textbook resource for learning</a:t>
            </a:r>
          </a:p>
          <a:p>
            <a:pPr marL="0" lvl="0" indent="0" algn="just">
              <a:lnSpc>
                <a:spcPts val="2472"/>
              </a:lnSpc>
              <a:spcBef>
                <a:spcPct val="0"/>
              </a:spcBef>
            </a:pPr>
            <a:r>
              <a:rPr lang="en-US" sz="1766">
                <a:solidFill>
                  <a:srgbClr val="047377"/>
                </a:solidFill>
                <a:latin typeface="Inter"/>
                <a:ea typeface="Inter"/>
                <a:cs typeface="Inter"/>
                <a:sym typeface="Inter"/>
              </a:rPr>
              <a:t>• Validate the complete design via real hardware implementation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06225"/>
            <a:ext cx="16230600" cy="3677892"/>
            <a:chOff x="0" y="0"/>
            <a:chExt cx="2630653" cy="596112"/>
          </a:xfrm>
        </p:grpSpPr>
        <p:sp>
          <p:nvSpPr>
            <p:cNvPr id="3" name="Freeform 3"/>
            <p:cNvSpPr/>
            <p:nvPr/>
          </p:nvSpPr>
          <p:spPr>
            <a:xfrm>
              <a:off x="0" y="0"/>
              <a:ext cx="2630653" cy="596112"/>
            </a:xfrm>
            <a:custGeom>
              <a:avLst/>
              <a:gdLst/>
              <a:ahLst/>
              <a:cxnLst/>
              <a:rect l="l" t="t" r="r" b="b"/>
              <a:pathLst>
                <a:path w="2630653" h="596112">
                  <a:moveTo>
                    <a:pt x="23850" y="0"/>
                  </a:moveTo>
                  <a:lnTo>
                    <a:pt x="2606803" y="0"/>
                  </a:lnTo>
                  <a:cubicBezTo>
                    <a:pt x="2613128" y="0"/>
                    <a:pt x="2619194" y="2513"/>
                    <a:pt x="2623667" y="6985"/>
                  </a:cubicBezTo>
                  <a:cubicBezTo>
                    <a:pt x="2628140" y="11458"/>
                    <a:pt x="2630653" y="17524"/>
                    <a:pt x="2630653" y="23850"/>
                  </a:cubicBezTo>
                  <a:lnTo>
                    <a:pt x="2630653" y="572262"/>
                  </a:lnTo>
                  <a:cubicBezTo>
                    <a:pt x="2630653" y="585434"/>
                    <a:pt x="2619975" y="596112"/>
                    <a:pt x="2606803" y="596112"/>
                  </a:cubicBezTo>
                  <a:lnTo>
                    <a:pt x="23850" y="596112"/>
                  </a:lnTo>
                  <a:cubicBezTo>
                    <a:pt x="17524" y="596112"/>
                    <a:pt x="11458" y="593599"/>
                    <a:pt x="6985" y="589127"/>
                  </a:cubicBezTo>
                  <a:cubicBezTo>
                    <a:pt x="2513" y="584654"/>
                    <a:pt x="0" y="578588"/>
                    <a:pt x="0" y="572262"/>
                  </a:cubicBezTo>
                  <a:lnTo>
                    <a:pt x="0" y="23850"/>
                  </a:lnTo>
                  <a:cubicBezTo>
                    <a:pt x="0" y="17524"/>
                    <a:pt x="2513" y="11458"/>
                    <a:pt x="6985" y="6985"/>
                  </a:cubicBezTo>
                  <a:cubicBezTo>
                    <a:pt x="11458" y="2513"/>
                    <a:pt x="17524" y="0"/>
                    <a:pt x="23850" y="0"/>
                  </a:cubicBezTo>
                  <a:close/>
                </a:path>
              </a:pathLst>
            </a:custGeom>
            <a:blipFill>
              <a:blip r:embed="rId2"/>
              <a:stretch>
                <a:fillRect t="-75770" b="-75770"/>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86125" y="6407967"/>
            <a:ext cx="5994860" cy="682521"/>
            <a:chOff x="0" y="0"/>
            <a:chExt cx="1578893" cy="179759"/>
          </a:xfrm>
        </p:grpSpPr>
        <p:sp>
          <p:nvSpPr>
            <p:cNvPr id="5" name="Freeform 5"/>
            <p:cNvSpPr/>
            <p:nvPr/>
          </p:nvSpPr>
          <p:spPr>
            <a:xfrm>
              <a:off x="0" y="0"/>
              <a:ext cx="1578893" cy="179759"/>
            </a:xfrm>
            <a:custGeom>
              <a:avLst/>
              <a:gdLst/>
              <a:ahLst/>
              <a:cxnLst/>
              <a:rect l="l" t="t" r="r" b="b"/>
              <a:pathLst>
                <a:path w="1578893" h="179759">
                  <a:moveTo>
                    <a:pt x="89879" y="0"/>
                  </a:moveTo>
                  <a:lnTo>
                    <a:pt x="1489014" y="0"/>
                  </a:lnTo>
                  <a:cubicBezTo>
                    <a:pt x="1538653" y="0"/>
                    <a:pt x="1578893" y="40240"/>
                    <a:pt x="1578893" y="89879"/>
                  </a:cubicBezTo>
                  <a:lnTo>
                    <a:pt x="1578893" y="89879"/>
                  </a:lnTo>
                  <a:cubicBezTo>
                    <a:pt x="1578893" y="113717"/>
                    <a:pt x="1569424" y="136578"/>
                    <a:pt x="1552568" y="153434"/>
                  </a:cubicBezTo>
                  <a:cubicBezTo>
                    <a:pt x="1535712" y="170289"/>
                    <a:pt x="1512851" y="179759"/>
                    <a:pt x="1489014"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578893"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Three Main Chapters</a:t>
              </a:r>
            </a:p>
          </p:txBody>
        </p:sp>
      </p:grpSp>
      <p:sp>
        <p:nvSpPr>
          <p:cNvPr id="7" name="TextBox 7"/>
          <p:cNvSpPr txBox="1"/>
          <p:nvPr/>
        </p:nvSpPr>
        <p:spPr>
          <a:xfrm>
            <a:off x="2278994" y="1228725"/>
            <a:ext cx="13730012" cy="969805"/>
          </a:xfrm>
          <a:prstGeom prst="rect">
            <a:avLst/>
          </a:prstGeom>
        </p:spPr>
        <p:txBody>
          <a:bodyPr lIns="0" tIns="0" rIns="0" bIns="0" rtlCol="0" anchor="t">
            <a:spAutoFit/>
          </a:bodyPr>
          <a:lstStyle/>
          <a:p>
            <a:pPr marL="0" lvl="0" indent="0" algn="ctr">
              <a:lnSpc>
                <a:spcPts val="7185"/>
              </a:lnSpc>
            </a:pPr>
            <a:r>
              <a:rPr lang="en-US" sz="7726" spc="-169">
                <a:solidFill>
                  <a:srgbClr val="047377"/>
                </a:solidFill>
                <a:latin typeface="Anton"/>
                <a:ea typeface="Anton"/>
                <a:cs typeface="Anton"/>
                <a:sym typeface="Anton"/>
              </a:rPr>
              <a:t>PROJECT STRUCTURE OVERVIEW</a:t>
            </a:r>
          </a:p>
        </p:txBody>
      </p:sp>
      <p:sp>
        <p:nvSpPr>
          <p:cNvPr id="8" name="TextBox 8"/>
          <p:cNvSpPr txBox="1"/>
          <p:nvPr/>
        </p:nvSpPr>
        <p:spPr>
          <a:xfrm>
            <a:off x="1086125" y="7322820"/>
            <a:ext cx="7806257" cy="2737233"/>
          </a:xfrm>
          <a:prstGeom prst="rect">
            <a:avLst/>
          </a:prstGeom>
        </p:spPr>
        <p:txBody>
          <a:bodyPr lIns="0" tIns="0" rIns="0" bIns="0" rtlCol="0" anchor="t">
            <a:spAutoFit/>
          </a:bodyPr>
          <a:lstStyle/>
          <a:p>
            <a:pPr marL="0" lvl="0" indent="0" algn="just">
              <a:lnSpc>
                <a:spcPts val="2428"/>
              </a:lnSpc>
              <a:spcBef>
                <a:spcPct val="0"/>
              </a:spcBef>
            </a:pPr>
            <a:r>
              <a:rPr lang="en-US" sz="1734">
                <a:solidFill>
                  <a:srgbClr val="047377"/>
                </a:solidFill>
                <a:latin typeface="Inter"/>
                <a:ea typeface="Inter"/>
                <a:cs typeface="Inter"/>
                <a:sym typeface="Inter"/>
              </a:rPr>
              <a:t>Chapter 1: Interactive Textbook &amp; Fundamentals</a:t>
            </a:r>
          </a:p>
          <a:p>
            <a:pPr marL="0" lvl="0" indent="0" algn="just">
              <a:lnSpc>
                <a:spcPts val="2428"/>
              </a:lnSpc>
              <a:spcBef>
                <a:spcPct val="0"/>
              </a:spcBef>
            </a:pPr>
            <a:r>
              <a:rPr lang="en-US" sz="1734">
                <a:solidFill>
                  <a:srgbClr val="047377"/>
                </a:solidFill>
                <a:latin typeface="Inter"/>
                <a:ea typeface="Inter"/>
                <a:cs typeface="Inter"/>
                <a:sym typeface="Inter"/>
              </a:rPr>
              <a:t>Comprehensive educational resource featuring interactive videos, visual learning aids, and step-by-step configuration guides. Covers network fundamentals with real-world device examples and hardware interface identification.</a:t>
            </a:r>
          </a:p>
          <a:p>
            <a:pPr marL="0" lvl="0" indent="0" algn="just">
              <a:lnSpc>
                <a:spcPts val="2428"/>
              </a:lnSpc>
              <a:spcBef>
                <a:spcPct val="0"/>
              </a:spcBef>
            </a:pPr>
            <a:r>
              <a:rPr lang="en-US" sz="1734">
                <a:solidFill>
                  <a:srgbClr val="047377"/>
                </a:solidFill>
                <a:latin typeface="Inter"/>
                <a:ea typeface="Inter"/>
                <a:cs typeface="Inter"/>
                <a:sym typeface="Inter"/>
              </a:rPr>
              <a:t>Chapter 2: Secure Company Network Design(simulation)</a:t>
            </a:r>
          </a:p>
          <a:p>
            <a:pPr marL="0" lvl="0" indent="0" algn="just">
              <a:lnSpc>
                <a:spcPts val="2428"/>
              </a:lnSpc>
              <a:spcBef>
                <a:spcPct val="0"/>
              </a:spcBef>
            </a:pPr>
            <a:r>
              <a:rPr lang="en-US" sz="1734">
                <a:solidFill>
                  <a:srgbClr val="047377"/>
                </a:solidFill>
                <a:latin typeface="Inter"/>
                <a:ea typeface="Inter"/>
                <a:cs typeface="Inter"/>
                <a:sym typeface="Inter"/>
              </a:rPr>
              <a:t>Enterprise network simulation using Cisco Packet Tracer. Implements dual ISP failover, VLAN segmentation, firewall security, and high availability protocols.</a:t>
            </a:r>
          </a:p>
        </p:txBody>
      </p:sp>
      <p:sp>
        <p:nvSpPr>
          <p:cNvPr id="9" name="TextBox 9"/>
          <p:cNvSpPr txBox="1"/>
          <p:nvPr/>
        </p:nvSpPr>
        <p:spPr>
          <a:xfrm>
            <a:off x="9652147" y="7139949"/>
            <a:ext cx="7806257" cy="2432433"/>
          </a:xfrm>
          <a:prstGeom prst="rect">
            <a:avLst/>
          </a:prstGeom>
        </p:spPr>
        <p:txBody>
          <a:bodyPr lIns="0" tIns="0" rIns="0" bIns="0" rtlCol="0" anchor="t">
            <a:spAutoFit/>
          </a:bodyPr>
          <a:lstStyle/>
          <a:p>
            <a:pPr marL="0" lvl="0" indent="0" algn="just">
              <a:lnSpc>
                <a:spcPts val="2428"/>
              </a:lnSpc>
              <a:spcBef>
                <a:spcPct val="0"/>
              </a:spcBef>
            </a:pPr>
            <a:r>
              <a:rPr lang="en-US" sz="1734">
                <a:solidFill>
                  <a:srgbClr val="047377"/>
                </a:solidFill>
                <a:latin typeface="Inter"/>
                <a:ea typeface="Inter"/>
                <a:cs typeface="Inter"/>
                <a:sym typeface="Inter"/>
              </a:rPr>
              <a:t>Chapter 3: Real Hardware Implementation(simulater)</a:t>
            </a:r>
          </a:p>
          <a:p>
            <a:pPr marL="0" lvl="0" indent="0" algn="just">
              <a:lnSpc>
                <a:spcPts val="2428"/>
              </a:lnSpc>
              <a:spcBef>
                <a:spcPct val="0"/>
              </a:spcBef>
            </a:pPr>
            <a:r>
              <a:rPr lang="en-US" sz="1734">
                <a:solidFill>
                  <a:srgbClr val="047377"/>
                </a:solidFill>
                <a:latin typeface="Inter"/>
                <a:ea typeface="Inter"/>
                <a:cs typeface="Inter"/>
                <a:sym typeface="Inter"/>
              </a:rPr>
              <a:t>Physical lab setup validating the simulated design using Cisco routers, D-Link switches, wireless access points, and surveillance integration. Demonstrates practical application of security measures and network services.</a:t>
            </a:r>
          </a:p>
          <a:p>
            <a:pPr marL="0" lvl="0" indent="0" algn="just">
              <a:lnSpc>
                <a:spcPts val="2428"/>
              </a:lnSpc>
              <a:spcBef>
                <a:spcPct val="0"/>
              </a:spcBef>
            </a:pPr>
            <a:r>
              <a:rPr lang="en-US" sz="1734">
                <a:solidFill>
                  <a:srgbClr val="047377"/>
                </a:solidFill>
                <a:latin typeface="Inter"/>
                <a:ea typeface="Inter"/>
                <a:cs typeface="Inter"/>
                <a:sym typeface="Inter"/>
              </a:rPr>
              <a:t>Project Flow: Theory → Simulation → Hardware</a:t>
            </a:r>
          </a:p>
          <a:p>
            <a:pPr marL="0" lvl="0" indent="0" algn="just">
              <a:lnSpc>
                <a:spcPts val="2428"/>
              </a:lnSpc>
              <a:spcBef>
                <a:spcPct val="0"/>
              </a:spcBef>
            </a:pPr>
            <a:r>
              <a:rPr lang="en-US" sz="1734">
                <a:solidFill>
                  <a:srgbClr val="047377"/>
                </a:solidFill>
                <a:latin typeface="Inter"/>
                <a:ea typeface="Inter"/>
                <a:cs typeface="Inter"/>
                <a:sym typeface="Inter"/>
              </a:rPr>
              <a:t>This structured approach bridges academic knowledge with hands-on practical experience in enterprise networking.</a:t>
            </a:r>
          </a:p>
        </p:txBody>
      </p:sp>
      <p:sp>
        <p:nvSpPr>
          <p:cNvPr id="10" name="Freeform 10"/>
          <p:cNvSpPr/>
          <p:nvPr/>
        </p:nvSpPr>
        <p:spPr>
          <a:xfrm>
            <a:off x="243350" y="-8300258"/>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5461065"/>
            <a:chOff x="0" y="0"/>
            <a:chExt cx="2630653" cy="885128"/>
          </a:xfrm>
        </p:grpSpPr>
        <p:sp>
          <p:nvSpPr>
            <p:cNvPr id="3" name="Freeform 3"/>
            <p:cNvSpPr/>
            <p:nvPr/>
          </p:nvSpPr>
          <p:spPr>
            <a:xfrm>
              <a:off x="0" y="0"/>
              <a:ext cx="2630653" cy="885128"/>
            </a:xfrm>
            <a:custGeom>
              <a:avLst/>
              <a:gdLst/>
              <a:ahLst/>
              <a:cxnLst/>
              <a:rect l="l" t="t" r="r" b="b"/>
              <a:pathLst>
                <a:path w="2630653" h="885128">
                  <a:moveTo>
                    <a:pt x="23850" y="0"/>
                  </a:moveTo>
                  <a:lnTo>
                    <a:pt x="2606803" y="0"/>
                  </a:lnTo>
                  <a:cubicBezTo>
                    <a:pt x="2613128" y="0"/>
                    <a:pt x="2619194" y="2513"/>
                    <a:pt x="2623667" y="6985"/>
                  </a:cubicBezTo>
                  <a:cubicBezTo>
                    <a:pt x="2628140" y="11458"/>
                    <a:pt x="2630653" y="17524"/>
                    <a:pt x="2630653" y="23850"/>
                  </a:cubicBezTo>
                  <a:lnTo>
                    <a:pt x="2630653" y="861279"/>
                  </a:lnTo>
                  <a:cubicBezTo>
                    <a:pt x="2630653" y="874450"/>
                    <a:pt x="2619975" y="885128"/>
                    <a:pt x="2606803" y="885128"/>
                  </a:cubicBezTo>
                  <a:lnTo>
                    <a:pt x="23850" y="885128"/>
                  </a:lnTo>
                  <a:cubicBezTo>
                    <a:pt x="17524" y="885128"/>
                    <a:pt x="11458" y="882616"/>
                    <a:pt x="6985" y="878143"/>
                  </a:cubicBezTo>
                  <a:cubicBezTo>
                    <a:pt x="2513" y="873670"/>
                    <a:pt x="0" y="867604"/>
                    <a:pt x="0" y="861279"/>
                  </a:cubicBezTo>
                  <a:lnTo>
                    <a:pt x="0" y="23850"/>
                  </a:lnTo>
                  <a:cubicBezTo>
                    <a:pt x="0" y="17524"/>
                    <a:pt x="2513" y="11458"/>
                    <a:pt x="6985" y="6985"/>
                  </a:cubicBezTo>
                  <a:cubicBezTo>
                    <a:pt x="11458" y="2513"/>
                    <a:pt x="17524" y="0"/>
                    <a:pt x="23850" y="0"/>
                  </a:cubicBezTo>
                  <a:close/>
                </a:path>
              </a:pathLst>
            </a:custGeom>
            <a:blipFill>
              <a:blip r:embed="rId2"/>
              <a:stretch>
                <a:fillRect t="-34703" b="-34703"/>
              </a:stretch>
            </a:blipFill>
            <a:ln w="38100" cap="rnd">
              <a:solidFill>
                <a:srgbClr val="047377"/>
              </a:solidFill>
              <a:prstDash val="solid"/>
              <a:round/>
            </a:ln>
          </p:spPr>
          <p:txBody>
            <a:bodyPr/>
            <a:lstStyle/>
            <a:p>
              <a:endParaRPr lang="en-US"/>
            </a:p>
          </p:txBody>
        </p:sp>
      </p:grpSp>
      <p:sp>
        <p:nvSpPr>
          <p:cNvPr id="4" name="TextBox 4"/>
          <p:cNvSpPr txBox="1"/>
          <p:nvPr/>
        </p:nvSpPr>
        <p:spPr>
          <a:xfrm>
            <a:off x="1028700" y="7283399"/>
            <a:ext cx="5767889" cy="1400904"/>
          </a:xfrm>
          <a:prstGeom prst="rect">
            <a:avLst/>
          </a:prstGeom>
        </p:spPr>
        <p:txBody>
          <a:bodyPr lIns="0" tIns="0" rIns="0" bIns="0" rtlCol="0" anchor="t">
            <a:spAutoFit/>
          </a:bodyPr>
          <a:lstStyle/>
          <a:p>
            <a:pPr marL="0" lvl="0" indent="0" algn="l">
              <a:lnSpc>
                <a:spcPts val="5341"/>
              </a:lnSpc>
            </a:pPr>
            <a:r>
              <a:rPr lang="en-US" sz="5743" spc="-126">
                <a:solidFill>
                  <a:srgbClr val="047377"/>
                </a:solidFill>
                <a:latin typeface="Anton"/>
                <a:ea typeface="Anton"/>
                <a:cs typeface="Anton"/>
                <a:sym typeface="Anton"/>
              </a:rPr>
              <a:t>CHAPTER 1</a:t>
            </a:r>
          </a:p>
          <a:p>
            <a:pPr marL="0" lvl="0" indent="0" algn="l">
              <a:lnSpc>
                <a:spcPts val="5341"/>
              </a:lnSpc>
            </a:pPr>
            <a:r>
              <a:rPr lang="en-US" sz="5743" spc="-126">
                <a:solidFill>
                  <a:srgbClr val="047377"/>
                </a:solidFill>
                <a:latin typeface="Anton"/>
                <a:ea typeface="Anton"/>
                <a:cs typeface="Anton"/>
                <a:sym typeface="Anton"/>
              </a:rPr>
              <a:t>INTERACTIVE TEXTBOOK</a:t>
            </a:r>
          </a:p>
        </p:txBody>
      </p:sp>
      <p:grpSp>
        <p:nvGrpSpPr>
          <p:cNvPr id="5" name="Group 5"/>
          <p:cNvGrpSpPr/>
          <p:nvPr/>
        </p:nvGrpSpPr>
        <p:grpSpPr>
          <a:xfrm>
            <a:off x="6796589" y="7162160"/>
            <a:ext cx="4840029" cy="682521"/>
            <a:chOff x="0" y="0"/>
            <a:chExt cx="1274740" cy="179759"/>
          </a:xfrm>
        </p:grpSpPr>
        <p:sp>
          <p:nvSpPr>
            <p:cNvPr id="6" name="Freeform 6"/>
            <p:cNvSpPr/>
            <p:nvPr/>
          </p:nvSpPr>
          <p:spPr>
            <a:xfrm>
              <a:off x="0" y="0"/>
              <a:ext cx="1274740" cy="179759"/>
            </a:xfrm>
            <a:custGeom>
              <a:avLst/>
              <a:gdLst/>
              <a:ahLst/>
              <a:cxnLst/>
              <a:rect l="l" t="t" r="r" b="b"/>
              <a:pathLst>
                <a:path w="1274740" h="179759">
                  <a:moveTo>
                    <a:pt x="89879" y="0"/>
                  </a:moveTo>
                  <a:lnTo>
                    <a:pt x="1184861" y="0"/>
                  </a:lnTo>
                  <a:cubicBezTo>
                    <a:pt x="1208698" y="0"/>
                    <a:pt x="1231559" y="9469"/>
                    <a:pt x="1248415" y="26325"/>
                  </a:cubicBezTo>
                  <a:cubicBezTo>
                    <a:pt x="1265271" y="43181"/>
                    <a:pt x="1274740" y="66042"/>
                    <a:pt x="1274740" y="89879"/>
                  </a:cubicBezTo>
                  <a:lnTo>
                    <a:pt x="1274740" y="89879"/>
                  </a:lnTo>
                  <a:cubicBezTo>
                    <a:pt x="1274740" y="139518"/>
                    <a:pt x="1234500" y="179759"/>
                    <a:pt x="1184861"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7" name="TextBox 7"/>
            <p:cNvSpPr txBox="1"/>
            <p:nvPr/>
          </p:nvSpPr>
          <p:spPr>
            <a:xfrm>
              <a:off x="0" y="-38100"/>
              <a:ext cx="1274740" cy="217859"/>
            </a:xfrm>
            <a:prstGeom prst="rect">
              <a:avLst/>
            </a:prstGeom>
          </p:spPr>
          <p:txBody>
            <a:bodyPr lIns="50800" tIns="50800" rIns="50800" bIns="50800" rtlCol="0" anchor="ctr"/>
            <a:lstStyle/>
            <a:p>
              <a:pPr marL="0" lvl="0" indent="0" algn="ctr">
                <a:lnSpc>
                  <a:spcPts val="2917"/>
                </a:lnSpc>
              </a:pPr>
              <a:r>
                <a:rPr lang="en-US" sz="2084">
                  <a:solidFill>
                    <a:srgbClr val="CAF9FF"/>
                  </a:solidFill>
                  <a:latin typeface="Inter"/>
                  <a:ea typeface="Inter"/>
                  <a:cs typeface="Inter"/>
                  <a:sym typeface="Inter"/>
                </a:rPr>
                <a:t>Educational Approach &amp; Fundamentals</a:t>
              </a:r>
            </a:p>
          </p:txBody>
        </p:sp>
      </p:grpSp>
      <p:sp>
        <p:nvSpPr>
          <p:cNvPr id="8" name="TextBox 8"/>
          <p:cNvSpPr txBox="1"/>
          <p:nvPr/>
        </p:nvSpPr>
        <p:spPr>
          <a:xfrm>
            <a:off x="6891839" y="7979132"/>
            <a:ext cx="10462711" cy="1249712"/>
          </a:xfrm>
          <a:prstGeom prst="rect">
            <a:avLst/>
          </a:prstGeom>
        </p:spPr>
        <p:txBody>
          <a:bodyPr lIns="0" tIns="0" rIns="0" bIns="0" rtlCol="0" anchor="t">
            <a:spAutoFit/>
          </a:bodyPr>
          <a:lstStyle/>
          <a:p>
            <a:pPr marL="0" lvl="0" indent="0" algn="just">
              <a:lnSpc>
                <a:spcPts val="2518"/>
              </a:lnSpc>
              <a:spcBef>
                <a:spcPct val="0"/>
              </a:spcBef>
            </a:pPr>
            <a:r>
              <a:rPr lang="en-US" sz="1798">
                <a:solidFill>
                  <a:srgbClr val="047377"/>
                </a:solidFill>
                <a:latin typeface="Inter"/>
                <a:ea typeface="Inter"/>
                <a:cs typeface="Inter"/>
                <a:sym typeface="Inter"/>
              </a:rPr>
              <a:t>Our interactive textbook combines visual learning aids with hands-on practice. Features include interactive videos demonstrating network concepts, real-world device examples with Cisco 1841 router interface identification, hardware component recognition guides, and comprehensive step-by-step configuration tutorials for practical skill development.</a:t>
            </a:r>
          </a:p>
        </p:txBody>
      </p:sp>
      <p:sp>
        <p:nvSpPr>
          <p:cNvPr id="9" name="Freeform 9"/>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2492618" y="-10970703"/>
            <a:ext cx="18288000" cy="15661178"/>
          </a:xfrm>
          <a:custGeom>
            <a:avLst/>
            <a:gdLst/>
            <a:ahLst/>
            <a:cxnLst/>
            <a:rect l="l" t="t" r="r" b="b"/>
            <a:pathLst>
              <a:path w="18288000" h="15661178">
                <a:moveTo>
                  <a:pt x="0" y="0"/>
                </a:moveTo>
                <a:lnTo>
                  <a:pt x="18288000" y="0"/>
                </a:lnTo>
                <a:lnTo>
                  <a:pt x="18288000" y="15661179"/>
                </a:lnTo>
                <a:lnTo>
                  <a:pt x="0" y="15661179"/>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432640" y="894906"/>
            <a:ext cx="9595713" cy="8229600"/>
            <a:chOff x="0" y="0"/>
            <a:chExt cx="1555271" cy="1333852"/>
          </a:xfrm>
        </p:grpSpPr>
        <p:sp>
          <p:nvSpPr>
            <p:cNvPr id="3" name="Freeform 3"/>
            <p:cNvSpPr/>
            <p:nvPr/>
          </p:nvSpPr>
          <p:spPr>
            <a:xfrm>
              <a:off x="0" y="0"/>
              <a:ext cx="1555271" cy="1333852"/>
            </a:xfrm>
            <a:custGeom>
              <a:avLst/>
              <a:gdLst/>
              <a:ahLst/>
              <a:cxnLst/>
              <a:rect l="l" t="t" r="r" b="b"/>
              <a:pathLst>
                <a:path w="1555271" h="1333852">
                  <a:moveTo>
                    <a:pt x="40341" y="0"/>
                  </a:moveTo>
                  <a:lnTo>
                    <a:pt x="1514931" y="0"/>
                  </a:lnTo>
                  <a:cubicBezTo>
                    <a:pt x="1525630" y="0"/>
                    <a:pt x="1535891" y="4250"/>
                    <a:pt x="1543456" y="11815"/>
                  </a:cubicBezTo>
                  <a:cubicBezTo>
                    <a:pt x="1551021" y="19381"/>
                    <a:pt x="1555271" y="29642"/>
                    <a:pt x="1555271" y="40341"/>
                  </a:cubicBezTo>
                  <a:lnTo>
                    <a:pt x="1555271" y="1293512"/>
                  </a:lnTo>
                  <a:cubicBezTo>
                    <a:pt x="1555271" y="1304211"/>
                    <a:pt x="1551021" y="1314471"/>
                    <a:pt x="1543456" y="1322037"/>
                  </a:cubicBezTo>
                  <a:cubicBezTo>
                    <a:pt x="1535891" y="1329602"/>
                    <a:pt x="1525630" y="1333852"/>
                    <a:pt x="1514931" y="1333852"/>
                  </a:cubicBezTo>
                  <a:lnTo>
                    <a:pt x="40341" y="1333852"/>
                  </a:lnTo>
                  <a:cubicBezTo>
                    <a:pt x="29642" y="1333852"/>
                    <a:pt x="19381" y="1329602"/>
                    <a:pt x="11815" y="1322037"/>
                  </a:cubicBezTo>
                  <a:cubicBezTo>
                    <a:pt x="4250" y="1314471"/>
                    <a:pt x="0" y="1304211"/>
                    <a:pt x="0" y="1293512"/>
                  </a:cubicBezTo>
                  <a:lnTo>
                    <a:pt x="0" y="40341"/>
                  </a:lnTo>
                  <a:cubicBezTo>
                    <a:pt x="0" y="29642"/>
                    <a:pt x="4250" y="19381"/>
                    <a:pt x="11815" y="11815"/>
                  </a:cubicBezTo>
                  <a:cubicBezTo>
                    <a:pt x="19381" y="4250"/>
                    <a:pt x="29642" y="0"/>
                    <a:pt x="40341" y="0"/>
                  </a:cubicBezTo>
                  <a:close/>
                </a:path>
              </a:pathLst>
            </a:custGeom>
            <a:blipFill>
              <a:blip r:embed="rId2"/>
              <a:stretch>
                <a:fillRect l="-25688" r="-2555"/>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353277" y="1028700"/>
            <a:ext cx="7007852" cy="7962011"/>
            <a:chOff x="0" y="0"/>
            <a:chExt cx="9343803" cy="10616015"/>
          </a:xfrm>
        </p:grpSpPr>
        <p:grpSp>
          <p:nvGrpSpPr>
            <p:cNvPr id="5" name="Group 5"/>
            <p:cNvGrpSpPr/>
            <p:nvPr/>
          </p:nvGrpSpPr>
          <p:grpSpPr>
            <a:xfrm>
              <a:off x="0" y="5099504"/>
              <a:ext cx="5988393" cy="923447"/>
              <a:chOff x="0" y="0"/>
              <a:chExt cx="1165704" cy="179759"/>
            </a:xfrm>
          </p:grpSpPr>
          <p:sp>
            <p:nvSpPr>
              <p:cNvPr id="6" name="Freeform 6"/>
              <p:cNvSpPr/>
              <p:nvPr/>
            </p:nvSpPr>
            <p:spPr>
              <a:xfrm>
                <a:off x="0" y="0"/>
                <a:ext cx="1165704" cy="179759"/>
              </a:xfrm>
              <a:custGeom>
                <a:avLst/>
                <a:gdLst/>
                <a:ahLst/>
                <a:cxnLst/>
                <a:rect l="l" t="t" r="r" b="b"/>
                <a:pathLst>
                  <a:path w="1165704" h="179759">
                    <a:moveTo>
                      <a:pt x="89879" y="0"/>
                    </a:moveTo>
                    <a:lnTo>
                      <a:pt x="1075825" y="0"/>
                    </a:lnTo>
                    <a:cubicBezTo>
                      <a:pt x="1099662" y="0"/>
                      <a:pt x="1122523" y="9469"/>
                      <a:pt x="1139379" y="26325"/>
                    </a:cubicBezTo>
                    <a:cubicBezTo>
                      <a:pt x="1156235" y="43181"/>
                      <a:pt x="1165704" y="66042"/>
                      <a:pt x="1165704" y="89879"/>
                    </a:cubicBezTo>
                    <a:lnTo>
                      <a:pt x="1165704" y="89879"/>
                    </a:lnTo>
                    <a:cubicBezTo>
                      <a:pt x="1165704" y="113717"/>
                      <a:pt x="1156235" y="136578"/>
                      <a:pt x="1139379" y="153434"/>
                    </a:cubicBezTo>
                    <a:cubicBezTo>
                      <a:pt x="1122523" y="170289"/>
                      <a:pt x="1099662" y="179759"/>
                      <a:pt x="1075825"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7" name="TextBox 7"/>
              <p:cNvSpPr txBox="1"/>
              <p:nvPr/>
            </p:nvSpPr>
            <p:spPr>
              <a:xfrm>
                <a:off x="0" y="-47625"/>
                <a:ext cx="1165704"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Three-Tier Architecture</a:t>
                </a:r>
              </a:p>
            </p:txBody>
          </p:sp>
        </p:grpSp>
        <p:sp>
          <p:nvSpPr>
            <p:cNvPr id="8" name="TextBox 8"/>
            <p:cNvSpPr txBox="1"/>
            <p:nvPr/>
          </p:nvSpPr>
          <p:spPr>
            <a:xfrm>
              <a:off x="0" y="133350"/>
              <a:ext cx="7803916" cy="2647718"/>
            </a:xfrm>
            <a:prstGeom prst="rect">
              <a:avLst/>
            </a:prstGeom>
          </p:spPr>
          <p:txBody>
            <a:bodyPr lIns="0" tIns="0" rIns="0" bIns="0" rtlCol="0" anchor="t">
              <a:spAutoFit/>
            </a:bodyPr>
            <a:lstStyle/>
            <a:p>
              <a:pPr marL="0" lvl="0" indent="0" algn="l">
                <a:lnSpc>
                  <a:spcPts val="5038"/>
                </a:lnSpc>
              </a:pPr>
              <a:r>
                <a:rPr lang="en-US" sz="5417" spc="-119">
                  <a:solidFill>
                    <a:srgbClr val="047377"/>
                  </a:solidFill>
                  <a:latin typeface="Anton"/>
                  <a:ea typeface="Anton"/>
                  <a:cs typeface="Anton"/>
                  <a:sym typeface="Anton"/>
                </a:rPr>
                <a:t>CHAPTER 2: ENTERPRISE NETWORK DESIGN OVERVIEW(SIMULATION)</a:t>
              </a:r>
            </a:p>
          </p:txBody>
        </p:sp>
        <p:sp>
          <p:nvSpPr>
            <p:cNvPr id="9" name="TextBox 9"/>
            <p:cNvSpPr txBox="1"/>
            <p:nvPr/>
          </p:nvSpPr>
          <p:spPr>
            <a:xfrm>
              <a:off x="0" y="6629214"/>
              <a:ext cx="9343803" cy="3986801"/>
            </a:xfrm>
            <a:prstGeom prst="rect">
              <a:avLst/>
            </a:prstGeom>
          </p:spPr>
          <p:txBody>
            <a:bodyPr lIns="0" tIns="0" rIns="0" bIns="0" rtlCol="0" anchor="t">
              <a:spAutoFit/>
            </a:bodyPr>
            <a:lstStyle/>
            <a:p>
              <a:pPr marL="0" lvl="0" indent="0" algn="just">
                <a:lnSpc>
                  <a:spcPts val="2981"/>
                </a:lnSpc>
                <a:spcBef>
                  <a:spcPct val="0"/>
                </a:spcBef>
              </a:pPr>
              <a:r>
                <a:rPr lang="en-US" sz="2129">
                  <a:solidFill>
                    <a:srgbClr val="047377"/>
                  </a:solidFill>
                  <a:latin typeface="Inter"/>
                  <a:ea typeface="Inter"/>
                  <a:cs typeface="Inter"/>
                  <a:sym typeface="Inter"/>
                </a:rPr>
                <a:t>Our enterprise network spans 6 departments across 3 floors, supporting 100+ devices. The design follows industry-standard three-tier architecture: Core layer for high-speed backbone connectivity, Distribution layer for policy enforcement and VLAN routing, and Access layer connecting end-user devices. This scalable structure ensures optimal performance, security segmentation, and simplified management.</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8444631" y="1028700"/>
            <a:ext cx="8814669" cy="8229600"/>
            <a:chOff x="0" y="0"/>
            <a:chExt cx="1428680" cy="1333852"/>
          </a:xfrm>
        </p:grpSpPr>
        <p:sp>
          <p:nvSpPr>
            <p:cNvPr id="3" name="Freeform 3"/>
            <p:cNvSpPr/>
            <p:nvPr/>
          </p:nvSpPr>
          <p:spPr>
            <a:xfrm>
              <a:off x="0" y="0"/>
              <a:ext cx="1428680" cy="1333852"/>
            </a:xfrm>
            <a:custGeom>
              <a:avLst/>
              <a:gdLst/>
              <a:ahLst/>
              <a:cxnLst/>
              <a:rect l="l" t="t" r="r" b="b"/>
              <a:pathLst>
                <a:path w="1428680" h="1333852">
                  <a:moveTo>
                    <a:pt x="43915" y="0"/>
                  </a:moveTo>
                  <a:lnTo>
                    <a:pt x="1384765" y="0"/>
                  </a:lnTo>
                  <a:cubicBezTo>
                    <a:pt x="1396412" y="0"/>
                    <a:pt x="1407582" y="4627"/>
                    <a:pt x="1415818" y="12862"/>
                  </a:cubicBezTo>
                  <a:cubicBezTo>
                    <a:pt x="1424053" y="21098"/>
                    <a:pt x="1428680" y="32268"/>
                    <a:pt x="1428680" y="43915"/>
                  </a:cubicBezTo>
                  <a:lnTo>
                    <a:pt x="1428680" y="1289937"/>
                  </a:lnTo>
                  <a:cubicBezTo>
                    <a:pt x="1428680" y="1314191"/>
                    <a:pt x="1409019" y="1333852"/>
                    <a:pt x="1384765" y="1333852"/>
                  </a:cubicBezTo>
                  <a:lnTo>
                    <a:pt x="43915" y="1333852"/>
                  </a:lnTo>
                  <a:cubicBezTo>
                    <a:pt x="19661" y="1333852"/>
                    <a:pt x="0" y="1314191"/>
                    <a:pt x="0" y="1289937"/>
                  </a:cubicBezTo>
                  <a:lnTo>
                    <a:pt x="0" y="43915"/>
                  </a:lnTo>
                  <a:cubicBezTo>
                    <a:pt x="0" y="19661"/>
                    <a:pt x="19661" y="0"/>
                    <a:pt x="43915" y="0"/>
                  </a:cubicBezTo>
                  <a:close/>
                </a:path>
              </a:pathLst>
            </a:custGeom>
            <a:blipFill>
              <a:blip r:embed="rId2"/>
              <a:stretch>
                <a:fillRect t="-3554" b="-3554"/>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86125" y="6093642"/>
            <a:ext cx="6356199" cy="682521"/>
            <a:chOff x="0" y="0"/>
            <a:chExt cx="1674061" cy="179759"/>
          </a:xfrm>
        </p:grpSpPr>
        <p:sp>
          <p:nvSpPr>
            <p:cNvPr id="5" name="Freeform 5"/>
            <p:cNvSpPr/>
            <p:nvPr/>
          </p:nvSpPr>
          <p:spPr>
            <a:xfrm>
              <a:off x="0" y="0"/>
              <a:ext cx="1674061" cy="179759"/>
            </a:xfrm>
            <a:custGeom>
              <a:avLst/>
              <a:gdLst/>
              <a:ahLst/>
              <a:cxnLst/>
              <a:rect l="l" t="t" r="r" b="b"/>
              <a:pathLst>
                <a:path w="1674061" h="179759">
                  <a:moveTo>
                    <a:pt x="89879" y="0"/>
                  </a:moveTo>
                  <a:lnTo>
                    <a:pt x="1584182" y="0"/>
                  </a:lnTo>
                  <a:cubicBezTo>
                    <a:pt x="1608019" y="0"/>
                    <a:pt x="1630880" y="9469"/>
                    <a:pt x="1647736" y="26325"/>
                  </a:cubicBezTo>
                  <a:cubicBezTo>
                    <a:pt x="1664591" y="43181"/>
                    <a:pt x="1674061" y="66042"/>
                    <a:pt x="1674061" y="89879"/>
                  </a:cubicBezTo>
                  <a:lnTo>
                    <a:pt x="1674061" y="89879"/>
                  </a:lnTo>
                  <a:cubicBezTo>
                    <a:pt x="1674061" y="139518"/>
                    <a:pt x="1633820" y="179759"/>
                    <a:pt x="1584182"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674061"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Redundancy and Perimeter Defense</a:t>
              </a:r>
            </a:p>
          </p:txBody>
        </p:sp>
      </p:grpSp>
      <p:sp>
        <p:nvSpPr>
          <p:cNvPr id="7" name="TextBox 7"/>
          <p:cNvSpPr txBox="1"/>
          <p:nvPr/>
        </p:nvSpPr>
        <p:spPr>
          <a:xfrm>
            <a:off x="1086125" y="1228725"/>
            <a:ext cx="6356199" cy="2799836"/>
          </a:xfrm>
          <a:prstGeom prst="rect">
            <a:avLst/>
          </a:prstGeom>
        </p:spPr>
        <p:txBody>
          <a:bodyPr lIns="0" tIns="0" rIns="0" bIns="0" rtlCol="0" anchor="t">
            <a:spAutoFit/>
          </a:bodyPr>
          <a:lstStyle/>
          <a:p>
            <a:pPr marL="0" lvl="0" indent="0" algn="l">
              <a:lnSpc>
                <a:spcPts val="7191"/>
              </a:lnSpc>
            </a:pPr>
            <a:r>
              <a:rPr lang="en-US" sz="7732" spc="-170">
                <a:solidFill>
                  <a:srgbClr val="047377"/>
                </a:solidFill>
                <a:latin typeface="Anton"/>
                <a:ea typeface="Anton"/>
                <a:cs typeface="Anton"/>
                <a:sym typeface="Anton"/>
              </a:rPr>
              <a:t>DUAL ISP FAILOVER &amp; FIREWALL SECURITY</a:t>
            </a:r>
          </a:p>
        </p:txBody>
      </p:sp>
      <p:sp>
        <p:nvSpPr>
          <p:cNvPr id="8" name="TextBox 8"/>
          <p:cNvSpPr txBox="1"/>
          <p:nvPr/>
        </p:nvSpPr>
        <p:spPr>
          <a:xfrm>
            <a:off x="1086125" y="7065645"/>
            <a:ext cx="6906023" cy="2192655"/>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47377"/>
                </a:solidFill>
                <a:latin typeface="Inter"/>
                <a:ea typeface="Inter"/>
                <a:cs typeface="Inter"/>
                <a:sym typeface="Inter"/>
              </a:rPr>
              <a:t>Our enterprise network utilizes dual ISP connectivity with SEACOM and SAFARICOM for automatic failover, ensuring continuous internet access. The Cisco ASA 5506-X active/standby firewall cluster provides robust perimeter defense. A dedicated DMZ hosts critical servers including Web, FTP, Email, APP, and NAS services, isolating them from the internal network while maintaining accessibility.</a:t>
            </a:r>
          </a:p>
        </p:txBody>
      </p:sp>
      <p:sp>
        <p:nvSpPr>
          <p:cNvPr id="9" name="Freeform 9"/>
          <p:cNvSpPr/>
          <p:nvPr/>
        </p:nvSpPr>
        <p:spPr>
          <a:xfrm>
            <a:off x="328861" y="-7613855"/>
            <a:ext cx="18288000" cy="15661178"/>
          </a:xfrm>
          <a:custGeom>
            <a:avLst/>
            <a:gdLst/>
            <a:ahLst/>
            <a:cxnLst/>
            <a:rect l="l" t="t" r="r" b="b"/>
            <a:pathLst>
              <a:path w="18288000" h="15661178">
                <a:moveTo>
                  <a:pt x="0" y="0"/>
                </a:moveTo>
                <a:lnTo>
                  <a:pt x="18288000" y="0"/>
                </a:lnTo>
                <a:lnTo>
                  <a:pt x="18288000" y="15661179"/>
                </a:lnTo>
                <a:lnTo>
                  <a:pt x="0" y="15661179"/>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86125" y="1028700"/>
            <a:ext cx="8547280" cy="8229600"/>
            <a:chOff x="0" y="0"/>
            <a:chExt cx="1385342" cy="1333852"/>
          </a:xfrm>
        </p:grpSpPr>
        <p:sp>
          <p:nvSpPr>
            <p:cNvPr id="3" name="Freeform 3"/>
            <p:cNvSpPr/>
            <p:nvPr/>
          </p:nvSpPr>
          <p:spPr>
            <a:xfrm>
              <a:off x="0" y="0"/>
              <a:ext cx="1385342" cy="1333852"/>
            </a:xfrm>
            <a:custGeom>
              <a:avLst/>
              <a:gdLst/>
              <a:ahLst/>
              <a:cxnLst/>
              <a:rect l="l" t="t" r="r" b="b"/>
              <a:pathLst>
                <a:path w="1385342" h="1333852">
                  <a:moveTo>
                    <a:pt x="45289" y="0"/>
                  </a:moveTo>
                  <a:lnTo>
                    <a:pt x="1340053" y="0"/>
                  </a:lnTo>
                  <a:cubicBezTo>
                    <a:pt x="1352064" y="0"/>
                    <a:pt x="1363583" y="4771"/>
                    <a:pt x="1372077" y="13265"/>
                  </a:cubicBezTo>
                  <a:cubicBezTo>
                    <a:pt x="1380570" y="21758"/>
                    <a:pt x="1385342" y="33277"/>
                    <a:pt x="1385342" y="45289"/>
                  </a:cubicBezTo>
                  <a:lnTo>
                    <a:pt x="1385342" y="1288563"/>
                  </a:lnTo>
                  <a:cubicBezTo>
                    <a:pt x="1385342" y="1300575"/>
                    <a:pt x="1380570" y="1312094"/>
                    <a:pt x="1372077" y="1320587"/>
                  </a:cubicBezTo>
                  <a:cubicBezTo>
                    <a:pt x="1363583" y="1329081"/>
                    <a:pt x="1352064" y="1333852"/>
                    <a:pt x="1340053" y="1333852"/>
                  </a:cubicBezTo>
                  <a:lnTo>
                    <a:pt x="45289" y="1333852"/>
                  </a:lnTo>
                  <a:cubicBezTo>
                    <a:pt x="33277" y="1333852"/>
                    <a:pt x="21758" y="1329081"/>
                    <a:pt x="13265" y="1320587"/>
                  </a:cubicBezTo>
                  <a:cubicBezTo>
                    <a:pt x="4771" y="1312094"/>
                    <a:pt x="0" y="1300575"/>
                    <a:pt x="0" y="1288563"/>
                  </a:cubicBezTo>
                  <a:lnTo>
                    <a:pt x="0" y="45289"/>
                  </a:lnTo>
                  <a:cubicBezTo>
                    <a:pt x="0" y="33277"/>
                    <a:pt x="4771" y="21758"/>
                    <a:pt x="13265" y="13265"/>
                  </a:cubicBezTo>
                  <a:cubicBezTo>
                    <a:pt x="21758" y="4771"/>
                    <a:pt x="33277" y="0"/>
                    <a:pt x="45289" y="0"/>
                  </a:cubicBezTo>
                  <a:close/>
                </a:path>
              </a:pathLst>
            </a:custGeom>
            <a:blipFill>
              <a:blip r:embed="rId2"/>
              <a:stretch>
                <a:fillRect t="-1930" b="-1930"/>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377669" y="5667185"/>
            <a:ext cx="4382454" cy="682521"/>
            <a:chOff x="0" y="0"/>
            <a:chExt cx="1154227" cy="179759"/>
          </a:xfrm>
        </p:grpSpPr>
        <p:sp>
          <p:nvSpPr>
            <p:cNvPr id="5" name="Freeform 5"/>
            <p:cNvSpPr/>
            <p:nvPr/>
          </p:nvSpPr>
          <p:spPr>
            <a:xfrm>
              <a:off x="0" y="0"/>
              <a:ext cx="1154227" cy="179759"/>
            </a:xfrm>
            <a:custGeom>
              <a:avLst/>
              <a:gdLst/>
              <a:ahLst/>
              <a:cxnLst/>
              <a:rect l="l" t="t" r="r" b="b"/>
              <a:pathLst>
                <a:path w="1154227" h="179759">
                  <a:moveTo>
                    <a:pt x="89879" y="0"/>
                  </a:moveTo>
                  <a:lnTo>
                    <a:pt x="1064347" y="0"/>
                  </a:lnTo>
                  <a:cubicBezTo>
                    <a:pt x="1088185" y="0"/>
                    <a:pt x="1111046" y="9469"/>
                    <a:pt x="1127902" y="26325"/>
                  </a:cubicBezTo>
                  <a:cubicBezTo>
                    <a:pt x="1144757" y="43181"/>
                    <a:pt x="1154227" y="66042"/>
                    <a:pt x="1154227" y="89879"/>
                  </a:cubicBezTo>
                  <a:lnTo>
                    <a:pt x="1154227" y="89879"/>
                  </a:lnTo>
                  <a:cubicBezTo>
                    <a:pt x="1154227" y="139518"/>
                    <a:pt x="1113986" y="179759"/>
                    <a:pt x="1064347"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154227"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Network Organization</a:t>
              </a:r>
            </a:p>
          </p:txBody>
        </p:sp>
      </p:grpSp>
      <p:sp>
        <p:nvSpPr>
          <p:cNvPr id="7" name="TextBox 7"/>
          <p:cNvSpPr txBox="1"/>
          <p:nvPr/>
        </p:nvSpPr>
        <p:spPr>
          <a:xfrm>
            <a:off x="10377669" y="1228725"/>
            <a:ext cx="6356199" cy="2799650"/>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VLAN SEGMENTATION &amp; IP ADDRESSING</a:t>
            </a:r>
          </a:p>
        </p:txBody>
      </p:sp>
      <p:sp>
        <p:nvSpPr>
          <p:cNvPr id="8" name="TextBox 8"/>
          <p:cNvSpPr txBox="1"/>
          <p:nvPr/>
        </p:nvSpPr>
        <p:spPr>
          <a:xfrm>
            <a:off x="10377669" y="6751320"/>
            <a:ext cx="6881631" cy="2192655"/>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47377"/>
                </a:solidFill>
                <a:latin typeface="Inter"/>
                <a:ea typeface="Inter"/>
                <a:cs typeface="Inter"/>
                <a:sym typeface="Inter"/>
              </a:rPr>
              <a:t>• VLAN 10: Management - Network device administration</a:t>
            </a:r>
          </a:p>
          <a:p>
            <a:pPr marL="0" lvl="0" indent="0" algn="just">
              <a:lnSpc>
                <a:spcPts val="2520"/>
              </a:lnSpc>
              <a:spcBef>
                <a:spcPct val="0"/>
              </a:spcBef>
            </a:pPr>
            <a:r>
              <a:rPr lang="en-US" sz="1800">
                <a:solidFill>
                  <a:srgbClr val="047377"/>
                </a:solidFill>
                <a:latin typeface="Inter"/>
                <a:ea typeface="Inter"/>
                <a:cs typeface="Inter"/>
                <a:sym typeface="Inter"/>
              </a:rPr>
              <a:t>• VLAN 20: LAN - General workstation connectivity</a:t>
            </a:r>
          </a:p>
          <a:p>
            <a:pPr marL="0" lvl="0" indent="0" algn="just">
              <a:lnSpc>
                <a:spcPts val="2520"/>
              </a:lnSpc>
              <a:spcBef>
                <a:spcPct val="0"/>
              </a:spcBef>
            </a:pPr>
            <a:r>
              <a:rPr lang="en-US" sz="1800">
                <a:solidFill>
                  <a:srgbClr val="047377"/>
                </a:solidFill>
                <a:latin typeface="Inter"/>
                <a:ea typeface="Inter"/>
                <a:cs typeface="Inter"/>
                <a:sym typeface="Inter"/>
              </a:rPr>
              <a:t>• VLAN 50: WLAN - Wireless user access</a:t>
            </a:r>
          </a:p>
          <a:p>
            <a:pPr marL="0" lvl="0" indent="0" algn="just">
              <a:lnSpc>
                <a:spcPts val="2520"/>
              </a:lnSpc>
              <a:spcBef>
                <a:spcPct val="0"/>
              </a:spcBef>
            </a:pPr>
            <a:r>
              <a:rPr lang="en-US" sz="1800">
                <a:solidFill>
                  <a:srgbClr val="047377"/>
                </a:solidFill>
                <a:latin typeface="Inter"/>
                <a:ea typeface="Inter"/>
                <a:cs typeface="Inter"/>
                <a:sym typeface="Inter"/>
              </a:rPr>
              <a:t>• VLAN 70: VoIP - Voice traffic isolation</a:t>
            </a:r>
          </a:p>
          <a:p>
            <a:pPr marL="0" lvl="0" indent="0" algn="just">
              <a:lnSpc>
                <a:spcPts val="2520"/>
              </a:lnSpc>
              <a:spcBef>
                <a:spcPct val="0"/>
              </a:spcBef>
            </a:pPr>
            <a:r>
              <a:rPr lang="en-US" sz="1800">
                <a:solidFill>
                  <a:srgbClr val="047377"/>
                </a:solidFill>
                <a:latin typeface="Inter"/>
                <a:ea typeface="Inter"/>
                <a:cs typeface="Inter"/>
                <a:sym typeface="Inter"/>
              </a:rPr>
              <a:t>• VLAN 99: Blackhole - Security containment</a:t>
            </a:r>
          </a:p>
          <a:p>
            <a:pPr marL="0" lvl="0" indent="0" algn="just">
              <a:lnSpc>
                <a:spcPts val="2520"/>
              </a:lnSpc>
              <a:spcBef>
                <a:spcPct val="0"/>
              </a:spcBef>
            </a:pPr>
            <a:r>
              <a:rPr lang="en-US" sz="1800">
                <a:solidFill>
                  <a:srgbClr val="047377"/>
                </a:solidFill>
                <a:latin typeface="Inter"/>
                <a:ea typeface="Inter"/>
                <a:cs typeface="Inter"/>
                <a:sym typeface="Inter"/>
              </a:rPr>
              <a:t>IP Scheme: Class C (192.168.0.0/16) with VLSM optimization for efficient subnet allocation across departments and servers.</a:t>
            </a:r>
          </a:p>
        </p:txBody>
      </p:sp>
      <p:sp>
        <p:nvSpPr>
          <p:cNvPr id="9" name="Freeform 9"/>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0" y="-7566758"/>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06225"/>
            <a:ext cx="16230600" cy="3677892"/>
            <a:chOff x="0" y="0"/>
            <a:chExt cx="2630653" cy="596112"/>
          </a:xfrm>
        </p:grpSpPr>
        <p:sp>
          <p:nvSpPr>
            <p:cNvPr id="3" name="Freeform 3"/>
            <p:cNvSpPr/>
            <p:nvPr/>
          </p:nvSpPr>
          <p:spPr>
            <a:xfrm>
              <a:off x="0" y="0"/>
              <a:ext cx="2630653" cy="596112"/>
            </a:xfrm>
            <a:custGeom>
              <a:avLst/>
              <a:gdLst/>
              <a:ahLst/>
              <a:cxnLst/>
              <a:rect l="l" t="t" r="r" b="b"/>
              <a:pathLst>
                <a:path w="2630653" h="596112">
                  <a:moveTo>
                    <a:pt x="23850" y="0"/>
                  </a:moveTo>
                  <a:lnTo>
                    <a:pt x="2606803" y="0"/>
                  </a:lnTo>
                  <a:cubicBezTo>
                    <a:pt x="2613128" y="0"/>
                    <a:pt x="2619194" y="2513"/>
                    <a:pt x="2623667" y="6985"/>
                  </a:cubicBezTo>
                  <a:cubicBezTo>
                    <a:pt x="2628140" y="11458"/>
                    <a:pt x="2630653" y="17524"/>
                    <a:pt x="2630653" y="23850"/>
                  </a:cubicBezTo>
                  <a:lnTo>
                    <a:pt x="2630653" y="572262"/>
                  </a:lnTo>
                  <a:cubicBezTo>
                    <a:pt x="2630653" y="585434"/>
                    <a:pt x="2619975" y="596112"/>
                    <a:pt x="2606803" y="596112"/>
                  </a:cubicBezTo>
                  <a:lnTo>
                    <a:pt x="23850" y="596112"/>
                  </a:lnTo>
                  <a:cubicBezTo>
                    <a:pt x="17524" y="596112"/>
                    <a:pt x="11458" y="593599"/>
                    <a:pt x="6985" y="589127"/>
                  </a:cubicBezTo>
                  <a:cubicBezTo>
                    <a:pt x="2513" y="584654"/>
                    <a:pt x="0" y="578588"/>
                    <a:pt x="0" y="572262"/>
                  </a:cubicBezTo>
                  <a:lnTo>
                    <a:pt x="0" y="23850"/>
                  </a:lnTo>
                  <a:cubicBezTo>
                    <a:pt x="0" y="17524"/>
                    <a:pt x="2513" y="11458"/>
                    <a:pt x="6985" y="6985"/>
                  </a:cubicBezTo>
                  <a:cubicBezTo>
                    <a:pt x="11458" y="2513"/>
                    <a:pt x="17524" y="0"/>
                    <a:pt x="23850" y="0"/>
                  </a:cubicBezTo>
                  <a:close/>
                </a:path>
              </a:pathLst>
            </a:custGeom>
            <a:blipFill>
              <a:blip r:embed="rId2"/>
              <a:stretch>
                <a:fillRect t="-75770" b="-75770"/>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86125" y="6407967"/>
            <a:ext cx="5994860" cy="682521"/>
            <a:chOff x="0" y="0"/>
            <a:chExt cx="1578893" cy="179759"/>
          </a:xfrm>
        </p:grpSpPr>
        <p:sp>
          <p:nvSpPr>
            <p:cNvPr id="5" name="Freeform 5"/>
            <p:cNvSpPr/>
            <p:nvPr/>
          </p:nvSpPr>
          <p:spPr>
            <a:xfrm>
              <a:off x="0" y="0"/>
              <a:ext cx="1578893" cy="179759"/>
            </a:xfrm>
            <a:custGeom>
              <a:avLst/>
              <a:gdLst/>
              <a:ahLst/>
              <a:cxnLst/>
              <a:rect l="l" t="t" r="r" b="b"/>
              <a:pathLst>
                <a:path w="1578893" h="179759">
                  <a:moveTo>
                    <a:pt x="89879" y="0"/>
                  </a:moveTo>
                  <a:lnTo>
                    <a:pt x="1489014" y="0"/>
                  </a:lnTo>
                  <a:cubicBezTo>
                    <a:pt x="1538653" y="0"/>
                    <a:pt x="1578893" y="40240"/>
                    <a:pt x="1578893" y="89879"/>
                  </a:cubicBezTo>
                  <a:lnTo>
                    <a:pt x="1578893" y="89879"/>
                  </a:lnTo>
                  <a:cubicBezTo>
                    <a:pt x="1578893" y="113717"/>
                    <a:pt x="1569424" y="136578"/>
                    <a:pt x="1552568" y="153434"/>
                  </a:cubicBezTo>
                  <a:cubicBezTo>
                    <a:pt x="1535712" y="170289"/>
                    <a:pt x="1512851" y="179759"/>
                    <a:pt x="1489014"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578893"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Unified Communications Platform</a:t>
              </a:r>
            </a:p>
          </p:txBody>
        </p:sp>
      </p:grpSp>
      <p:sp>
        <p:nvSpPr>
          <p:cNvPr id="7" name="TextBox 7"/>
          <p:cNvSpPr txBox="1"/>
          <p:nvPr/>
        </p:nvSpPr>
        <p:spPr>
          <a:xfrm>
            <a:off x="2278994" y="1219200"/>
            <a:ext cx="13730012" cy="879535"/>
          </a:xfrm>
          <a:prstGeom prst="rect">
            <a:avLst/>
          </a:prstGeom>
        </p:spPr>
        <p:txBody>
          <a:bodyPr lIns="0" tIns="0" rIns="0" bIns="0" rtlCol="0" anchor="t">
            <a:spAutoFit/>
          </a:bodyPr>
          <a:lstStyle/>
          <a:p>
            <a:pPr marL="0" lvl="0" indent="0" algn="ctr">
              <a:lnSpc>
                <a:spcPts val="6546"/>
              </a:lnSpc>
            </a:pPr>
            <a:r>
              <a:rPr lang="en-US" sz="7038" spc="-154">
                <a:solidFill>
                  <a:srgbClr val="047377"/>
                </a:solidFill>
                <a:latin typeface="Anton"/>
                <a:ea typeface="Anton"/>
                <a:cs typeface="Anton"/>
                <a:sym typeface="Anton"/>
              </a:rPr>
              <a:t>WIRELESS INFRASTRUCTURE &amp; VOIP SERVICES</a:t>
            </a:r>
          </a:p>
        </p:txBody>
      </p:sp>
      <p:sp>
        <p:nvSpPr>
          <p:cNvPr id="8" name="TextBox 8"/>
          <p:cNvSpPr txBox="1"/>
          <p:nvPr/>
        </p:nvSpPr>
        <p:spPr>
          <a:xfrm>
            <a:off x="1086125" y="7379970"/>
            <a:ext cx="7806257" cy="1564005"/>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47377"/>
                </a:solidFill>
                <a:latin typeface="Inter"/>
                <a:ea typeface="Inter"/>
                <a:cs typeface="Inter"/>
                <a:sym typeface="Inter"/>
              </a:rPr>
              <a:t>Wireless LAN Controller 2504 centrally manages 5 Lightweight Access Points across all three floors, providing seamless roaming and unified wireless coverage. WPA2 Enterprise security ensures encrypted communications with RADIUS authentication for all wireless clients connecting to the network.</a:t>
            </a:r>
          </a:p>
        </p:txBody>
      </p:sp>
      <p:sp>
        <p:nvSpPr>
          <p:cNvPr id="9" name="TextBox 9"/>
          <p:cNvSpPr txBox="1"/>
          <p:nvPr/>
        </p:nvSpPr>
        <p:spPr>
          <a:xfrm>
            <a:off x="9453043" y="7379970"/>
            <a:ext cx="7806257" cy="1564005"/>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47377"/>
                </a:solidFill>
                <a:latin typeface="Inter"/>
                <a:ea typeface="Inter"/>
                <a:cs typeface="Inter"/>
                <a:sym typeface="Inter"/>
              </a:rPr>
              <a:t>Cisco 2811 Voice Gateway with CallManager Express delivers enterprise VoIP services, supporting Cisco 7960 series IP Phones throughout departments. This integration enables internal voice communications, call routing, and voicemail services while maintaining quality of service prioritization for voice traffic.</a:t>
            </a:r>
          </a:p>
        </p:txBody>
      </p:sp>
      <p:sp>
        <p:nvSpPr>
          <p:cNvPr id="10" name="Freeform 10"/>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8444631" y="1028700"/>
            <a:ext cx="8814669" cy="8229600"/>
            <a:chOff x="0" y="0"/>
            <a:chExt cx="1428680" cy="1333852"/>
          </a:xfrm>
        </p:grpSpPr>
        <p:sp>
          <p:nvSpPr>
            <p:cNvPr id="3" name="Freeform 3"/>
            <p:cNvSpPr/>
            <p:nvPr/>
          </p:nvSpPr>
          <p:spPr>
            <a:xfrm>
              <a:off x="0" y="0"/>
              <a:ext cx="1428680" cy="1333852"/>
            </a:xfrm>
            <a:custGeom>
              <a:avLst/>
              <a:gdLst/>
              <a:ahLst/>
              <a:cxnLst/>
              <a:rect l="l" t="t" r="r" b="b"/>
              <a:pathLst>
                <a:path w="1428680" h="1333852">
                  <a:moveTo>
                    <a:pt x="43915" y="0"/>
                  </a:moveTo>
                  <a:lnTo>
                    <a:pt x="1384765" y="0"/>
                  </a:lnTo>
                  <a:cubicBezTo>
                    <a:pt x="1396412" y="0"/>
                    <a:pt x="1407582" y="4627"/>
                    <a:pt x="1415818" y="12862"/>
                  </a:cubicBezTo>
                  <a:cubicBezTo>
                    <a:pt x="1424053" y="21098"/>
                    <a:pt x="1428680" y="32268"/>
                    <a:pt x="1428680" y="43915"/>
                  </a:cubicBezTo>
                  <a:lnTo>
                    <a:pt x="1428680" y="1289937"/>
                  </a:lnTo>
                  <a:cubicBezTo>
                    <a:pt x="1428680" y="1314191"/>
                    <a:pt x="1409019" y="1333852"/>
                    <a:pt x="1384765" y="1333852"/>
                  </a:cubicBezTo>
                  <a:lnTo>
                    <a:pt x="43915" y="1333852"/>
                  </a:lnTo>
                  <a:cubicBezTo>
                    <a:pt x="19661" y="1333852"/>
                    <a:pt x="0" y="1314191"/>
                    <a:pt x="0" y="1289937"/>
                  </a:cubicBezTo>
                  <a:lnTo>
                    <a:pt x="0" y="43915"/>
                  </a:lnTo>
                  <a:cubicBezTo>
                    <a:pt x="0" y="19661"/>
                    <a:pt x="19661" y="0"/>
                    <a:pt x="43915" y="0"/>
                  </a:cubicBezTo>
                  <a:close/>
                </a:path>
              </a:pathLst>
            </a:custGeom>
            <a:blipFill>
              <a:blip r:embed="rId2"/>
              <a:stretch>
                <a:fillRect t="-3554" b="-3554"/>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86125" y="6093642"/>
            <a:ext cx="6356199" cy="682521"/>
            <a:chOff x="0" y="0"/>
            <a:chExt cx="1674061" cy="179759"/>
          </a:xfrm>
        </p:grpSpPr>
        <p:sp>
          <p:nvSpPr>
            <p:cNvPr id="5" name="Freeform 5"/>
            <p:cNvSpPr/>
            <p:nvPr/>
          </p:nvSpPr>
          <p:spPr>
            <a:xfrm>
              <a:off x="0" y="0"/>
              <a:ext cx="1674061" cy="179759"/>
            </a:xfrm>
            <a:custGeom>
              <a:avLst/>
              <a:gdLst/>
              <a:ahLst/>
              <a:cxnLst/>
              <a:rect l="l" t="t" r="r" b="b"/>
              <a:pathLst>
                <a:path w="1674061" h="179759">
                  <a:moveTo>
                    <a:pt x="89879" y="0"/>
                  </a:moveTo>
                  <a:lnTo>
                    <a:pt x="1584182" y="0"/>
                  </a:lnTo>
                  <a:cubicBezTo>
                    <a:pt x="1608019" y="0"/>
                    <a:pt x="1630880" y="9469"/>
                    <a:pt x="1647736" y="26325"/>
                  </a:cubicBezTo>
                  <a:cubicBezTo>
                    <a:pt x="1664591" y="43181"/>
                    <a:pt x="1674061" y="66042"/>
                    <a:pt x="1674061" y="89879"/>
                  </a:cubicBezTo>
                  <a:lnTo>
                    <a:pt x="1674061" y="89879"/>
                  </a:lnTo>
                  <a:cubicBezTo>
                    <a:pt x="1674061" y="139518"/>
                    <a:pt x="1633820" y="179759"/>
                    <a:pt x="1584182"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674061"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OSPF, HSRP &amp; LACP Implementation</a:t>
              </a:r>
            </a:p>
          </p:txBody>
        </p:sp>
      </p:grpSp>
      <p:sp>
        <p:nvSpPr>
          <p:cNvPr id="7" name="TextBox 7"/>
          <p:cNvSpPr txBox="1"/>
          <p:nvPr/>
        </p:nvSpPr>
        <p:spPr>
          <a:xfrm>
            <a:off x="1086125" y="1228725"/>
            <a:ext cx="6356199" cy="2799650"/>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ROUTING &amp; HIGH AVAILABILITY PROTOCOLS</a:t>
            </a:r>
          </a:p>
        </p:txBody>
      </p:sp>
      <p:sp>
        <p:nvSpPr>
          <p:cNvPr id="8" name="TextBox 8"/>
          <p:cNvSpPr txBox="1"/>
          <p:nvPr/>
        </p:nvSpPr>
        <p:spPr>
          <a:xfrm>
            <a:off x="1086125" y="7075170"/>
            <a:ext cx="6906023" cy="2198670"/>
          </a:xfrm>
          <a:prstGeom prst="rect">
            <a:avLst/>
          </a:prstGeom>
        </p:spPr>
        <p:txBody>
          <a:bodyPr lIns="0" tIns="0" rIns="0" bIns="0" rtlCol="0" anchor="t">
            <a:spAutoFit/>
          </a:bodyPr>
          <a:lstStyle/>
          <a:p>
            <a:pPr marL="0" lvl="0" indent="0" algn="just">
              <a:lnSpc>
                <a:spcPts val="2188"/>
              </a:lnSpc>
              <a:spcBef>
                <a:spcPct val="0"/>
              </a:spcBef>
            </a:pPr>
            <a:r>
              <a:rPr lang="en-US" sz="1563">
                <a:solidFill>
                  <a:srgbClr val="047377"/>
                </a:solidFill>
                <a:latin typeface="Inter"/>
                <a:ea typeface="Inter"/>
                <a:cs typeface="Inter"/>
                <a:sym typeface="Inter"/>
              </a:rPr>
              <a:t>OSPF Area 0: Dynamic routing protocol enabling efficient path selection and network convergence across the enterprise infrastructure.</a:t>
            </a:r>
          </a:p>
          <a:p>
            <a:pPr marL="0" lvl="0" indent="0" algn="just">
              <a:lnSpc>
                <a:spcPts val="2188"/>
              </a:lnSpc>
              <a:spcBef>
                <a:spcPct val="0"/>
              </a:spcBef>
            </a:pPr>
            <a:r>
              <a:rPr lang="en-US" sz="1563">
                <a:solidFill>
                  <a:srgbClr val="047377"/>
                </a:solidFill>
                <a:latin typeface="Inter"/>
                <a:ea typeface="Inter"/>
                <a:cs typeface="Inter"/>
                <a:sym typeface="Inter"/>
              </a:rPr>
              <a:t>HSRP (Hot Standby Router Protocol): Provides gateway redundancy ensuring seamless failover between primary and backup routers for uninterrupted connectivity.</a:t>
            </a:r>
          </a:p>
          <a:p>
            <a:pPr marL="0" lvl="0" indent="0" algn="just">
              <a:lnSpc>
                <a:spcPts val="2188"/>
              </a:lnSpc>
              <a:spcBef>
                <a:spcPct val="0"/>
              </a:spcBef>
            </a:pPr>
            <a:r>
              <a:rPr lang="en-US" sz="1563">
                <a:solidFill>
                  <a:srgbClr val="047377"/>
                </a:solidFill>
                <a:latin typeface="Inter"/>
                <a:ea typeface="Inter"/>
                <a:cs typeface="Inter"/>
                <a:sym typeface="Inter"/>
              </a:rPr>
              <a:t>LACP (Link Aggregation Control Protocol): Bundles multiple physical links into a single logical channel for core switch uplinks, increasing bandwidth and providing link redundancy.</a:t>
            </a:r>
          </a:p>
        </p:txBody>
      </p:sp>
      <p:sp>
        <p:nvSpPr>
          <p:cNvPr id="9" name="Freeform 9"/>
          <p:cNvSpPr/>
          <p:nvPr/>
        </p:nvSpPr>
        <p:spPr>
          <a:xfrm>
            <a:off x="0" y="-9365308"/>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sp>
        <p:nvSpPr>
          <p:cNvPr id="2" name="Freeform 2"/>
          <p:cNvSpPr/>
          <p:nvPr/>
        </p:nvSpPr>
        <p:spPr>
          <a:xfrm>
            <a:off x="114300" y="-8637931"/>
            <a:ext cx="18288000" cy="15661178"/>
          </a:xfrm>
          <a:custGeom>
            <a:avLst/>
            <a:gdLst/>
            <a:ahLst/>
            <a:cxnLst/>
            <a:rect l="l" t="t" r="r" b="b"/>
            <a:pathLst>
              <a:path w="18288000" h="15661178">
                <a:moveTo>
                  <a:pt x="0" y="0"/>
                </a:moveTo>
                <a:lnTo>
                  <a:pt x="18288000" y="0"/>
                </a:lnTo>
                <a:lnTo>
                  <a:pt x="18288000" y="15661179"/>
                </a:lnTo>
                <a:lnTo>
                  <a:pt x="0" y="15661179"/>
                </a:lnTo>
                <a:lnTo>
                  <a:pt x="0"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14300" y="2901342"/>
            <a:ext cx="11655222" cy="6356958"/>
          </a:xfrm>
          <a:custGeom>
            <a:avLst/>
            <a:gdLst/>
            <a:ahLst/>
            <a:cxnLst/>
            <a:rect l="l" t="t" r="r" b="b"/>
            <a:pathLst>
              <a:path w="11655222" h="6356958">
                <a:moveTo>
                  <a:pt x="0" y="0"/>
                </a:moveTo>
                <a:lnTo>
                  <a:pt x="11655222" y="0"/>
                </a:lnTo>
                <a:lnTo>
                  <a:pt x="11655222" y="6356958"/>
                </a:lnTo>
                <a:lnTo>
                  <a:pt x="0" y="6356958"/>
                </a:lnTo>
                <a:lnTo>
                  <a:pt x="0" y="0"/>
                </a:lnTo>
                <a:close/>
              </a:path>
            </a:pathLst>
          </a:custGeom>
          <a:blipFill>
            <a:blip r:embed="rId3"/>
            <a:stretch>
              <a:fillRect t="-1566" b="-1566"/>
            </a:stretch>
          </a:blipFill>
        </p:spPr>
        <p:txBody>
          <a:bodyPr/>
          <a:lstStyle/>
          <a:p>
            <a:endParaRPr lang="en-US"/>
          </a:p>
        </p:txBody>
      </p:sp>
      <p:sp>
        <p:nvSpPr>
          <p:cNvPr id="4" name="TextBox 4"/>
          <p:cNvSpPr txBox="1"/>
          <p:nvPr/>
        </p:nvSpPr>
        <p:spPr>
          <a:xfrm>
            <a:off x="1172723" y="200025"/>
            <a:ext cx="16562210" cy="976503"/>
          </a:xfrm>
          <a:prstGeom prst="rect">
            <a:avLst/>
          </a:prstGeom>
        </p:spPr>
        <p:txBody>
          <a:bodyPr lIns="0" tIns="0" rIns="0" bIns="0" rtlCol="0" anchor="t">
            <a:spAutoFit/>
          </a:bodyPr>
          <a:lstStyle/>
          <a:p>
            <a:pPr marL="0" lvl="0" indent="0" algn="l">
              <a:lnSpc>
                <a:spcPts val="7185"/>
              </a:lnSpc>
            </a:pPr>
            <a:r>
              <a:rPr lang="en-US" sz="7726" spc="-169" dirty="0">
                <a:solidFill>
                  <a:srgbClr val="047377"/>
                </a:solidFill>
                <a:latin typeface="Anton"/>
                <a:ea typeface="Anton"/>
                <a:cs typeface="Anton"/>
                <a:sym typeface="Anton"/>
              </a:rPr>
              <a:t>CHAPTER 3: REAL HARDWARE IMPLEMENTATION</a:t>
            </a:r>
          </a:p>
        </p:txBody>
      </p:sp>
      <p:sp>
        <p:nvSpPr>
          <p:cNvPr id="5" name="TextBox 5"/>
          <p:cNvSpPr txBox="1"/>
          <p:nvPr/>
        </p:nvSpPr>
        <p:spPr>
          <a:xfrm>
            <a:off x="2364023" y="1232546"/>
            <a:ext cx="13029009" cy="780364"/>
          </a:xfrm>
          <a:prstGeom prst="rect">
            <a:avLst/>
          </a:prstGeom>
        </p:spPr>
        <p:txBody>
          <a:bodyPr lIns="0" tIns="0" rIns="0" bIns="0" rtlCol="0" anchor="t">
            <a:spAutoFit/>
          </a:bodyPr>
          <a:lstStyle/>
          <a:p>
            <a:pPr algn="ctr">
              <a:lnSpc>
                <a:spcPts val="6337"/>
              </a:lnSpc>
              <a:spcBef>
                <a:spcPct val="0"/>
              </a:spcBef>
            </a:pPr>
            <a:r>
              <a:rPr lang="en-US" sz="4527" spc="-99">
                <a:solidFill>
                  <a:srgbClr val="047377"/>
                </a:solidFill>
                <a:latin typeface="Anton"/>
                <a:ea typeface="Anton"/>
                <a:cs typeface="Anton"/>
                <a:sym typeface="Anton"/>
              </a:rPr>
              <a:t>CISCO PACKET TRACER SIMULATION DESIGN &amp; PHYSICAL LAB SETUP</a:t>
            </a:r>
          </a:p>
        </p:txBody>
      </p:sp>
      <p:sp>
        <p:nvSpPr>
          <p:cNvPr id="6" name="TextBox 6"/>
          <p:cNvSpPr txBox="1"/>
          <p:nvPr/>
        </p:nvSpPr>
        <p:spPr>
          <a:xfrm>
            <a:off x="11967120" y="3977972"/>
            <a:ext cx="6188144" cy="2715894"/>
          </a:xfrm>
          <a:prstGeom prst="rect">
            <a:avLst/>
          </a:prstGeom>
        </p:spPr>
        <p:txBody>
          <a:bodyPr lIns="0" tIns="0" rIns="0" bIns="0" rtlCol="0" anchor="t">
            <a:spAutoFit/>
          </a:bodyPr>
          <a:lstStyle/>
          <a:p>
            <a:pPr marL="474986" lvl="1" indent="-237493" algn="l">
              <a:lnSpc>
                <a:spcPts val="3080"/>
              </a:lnSpc>
              <a:buFont typeface="Arial"/>
              <a:buChar char="•"/>
            </a:pPr>
            <a:r>
              <a:rPr lang="en-US" sz="2200">
                <a:solidFill>
                  <a:srgbClr val="000000"/>
                </a:solidFill>
                <a:latin typeface="Canva Sans"/>
                <a:ea typeface="Canva Sans"/>
                <a:cs typeface="Canva Sans"/>
                <a:sym typeface="Canva Sans"/>
              </a:rPr>
              <a:t>Central Infrastructure: Router serving as DHCP server for automatic IP assignment, Core Switch (2960-24TT) for Layer 2 connectivity, and Central Server handling network services. Design emphasizes scalability and hybrid connectivity for real-world enterprise application.</a:t>
            </a:r>
          </a:p>
        </p:txBody>
      </p:sp>
      <p:sp>
        <p:nvSpPr>
          <p:cNvPr id="7" name="TextBox 7"/>
          <p:cNvSpPr txBox="1"/>
          <p:nvPr/>
        </p:nvSpPr>
        <p:spPr>
          <a:xfrm>
            <a:off x="11967120" y="6985148"/>
            <a:ext cx="6055408" cy="2715895"/>
          </a:xfrm>
          <a:prstGeom prst="rect">
            <a:avLst/>
          </a:prstGeom>
        </p:spPr>
        <p:txBody>
          <a:bodyPr lIns="0" tIns="0" rIns="0" bIns="0" rtlCol="0" anchor="t">
            <a:spAutoFit/>
          </a:bodyPr>
          <a:lstStyle/>
          <a:p>
            <a:pPr marL="474979" lvl="1" indent="-237490" algn="l">
              <a:lnSpc>
                <a:spcPts val="3079"/>
              </a:lnSpc>
              <a:buFont typeface="Arial"/>
              <a:buChar char="•"/>
            </a:pPr>
            <a:r>
              <a:rPr lang="en-US" sz="2199">
                <a:solidFill>
                  <a:srgbClr val="000000"/>
                </a:solidFill>
                <a:latin typeface="Canva Sans"/>
                <a:ea typeface="Canva Sans"/>
                <a:cs typeface="Canva Sans"/>
                <a:sym typeface="Canva Sans"/>
              </a:rPr>
              <a:t>Wireless &amp; IoT Networking: Dual wireless routers providing comprehensive Wi-Fi coverage across zones, supporting mobile devices including smartphones, laptops, and tablets. Webcam connected to central switch enables real-time IoT monitoring capabilities.</a:t>
            </a:r>
          </a:p>
        </p:txBody>
      </p:sp>
      <p:sp>
        <p:nvSpPr>
          <p:cNvPr id="8" name="TextBox 8"/>
          <p:cNvSpPr txBox="1"/>
          <p:nvPr/>
        </p:nvSpPr>
        <p:spPr>
          <a:xfrm>
            <a:off x="11967120" y="2068928"/>
            <a:ext cx="5392103" cy="887095"/>
          </a:xfrm>
          <a:prstGeom prst="rect">
            <a:avLst/>
          </a:prstGeom>
        </p:spPr>
        <p:txBody>
          <a:bodyPr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Design Overview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177519"/>
            <a:ext cx="8547280" cy="8229600"/>
            <a:chOff x="0" y="0"/>
            <a:chExt cx="1385342" cy="1333852"/>
          </a:xfrm>
        </p:grpSpPr>
        <p:sp>
          <p:nvSpPr>
            <p:cNvPr id="3" name="Freeform 3"/>
            <p:cNvSpPr/>
            <p:nvPr/>
          </p:nvSpPr>
          <p:spPr>
            <a:xfrm>
              <a:off x="0" y="0"/>
              <a:ext cx="1385342" cy="1333852"/>
            </a:xfrm>
            <a:custGeom>
              <a:avLst/>
              <a:gdLst/>
              <a:ahLst/>
              <a:cxnLst/>
              <a:rect l="l" t="t" r="r" b="b"/>
              <a:pathLst>
                <a:path w="1385342" h="1333852">
                  <a:moveTo>
                    <a:pt x="45289" y="0"/>
                  </a:moveTo>
                  <a:lnTo>
                    <a:pt x="1340053" y="0"/>
                  </a:lnTo>
                  <a:cubicBezTo>
                    <a:pt x="1352064" y="0"/>
                    <a:pt x="1363583" y="4771"/>
                    <a:pt x="1372077" y="13265"/>
                  </a:cubicBezTo>
                  <a:cubicBezTo>
                    <a:pt x="1380570" y="21758"/>
                    <a:pt x="1385342" y="33277"/>
                    <a:pt x="1385342" y="45289"/>
                  </a:cubicBezTo>
                  <a:lnTo>
                    <a:pt x="1385342" y="1288563"/>
                  </a:lnTo>
                  <a:cubicBezTo>
                    <a:pt x="1385342" y="1300575"/>
                    <a:pt x="1380570" y="1312094"/>
                    <a:pt x="1372077" y="1320587"/>
                  </a:cubicBezTo>
                  <a:cubicBezTo>
                    <a:pt x="1363583" y="1329081"/>
                    <a:pt x="1352064" y="1333852"/>
                    <a:pt x="1340053" y="1333852"/>
                  </a:cubicBezTo>
                  <a:lnTo>
                    <a:pt x="45289" y="1333852"/>
                  </a:lnTo>
                  <a:cubicBezTo>
                    <a:pt x="33277" y="1333852"/>
                    <a:pt x="21758" y="1329081"/>
                    <a:pt x="13265" y="1320587"/>
                  </a:cubicBezTo>
                  <a:cubicBezTo>
                    <a:pt x="4771" y="1312094"/>
                    <a:pt x="0" y="1300575"/>
                    <a:pt x="0" y="1288563"/>
                  </a:cubicBezTo>
                  <a:lnTo>
                    <a:pt x="0" y="45289"/>
                  </a:lnTo>
                  <a:cubicBezTo>
                    <a:pt x="0" y="33277"/>
                    <a:pt x="4771" y="21758"/>
                    <a:pt x="13265" y="13265"/>
                  </a:cubicBezTo>
                  <a:cubicBezTo>
                    <a:pt x="21758" y="4771"/>
                    <a:pt x="33277" y="0"/>
                    <a:pt x="45289" y="0"/>
                  </a:cubicBezTo>
                  <a:close/>
                </a:path>
              </a:pathLst>
            </a:custGeom>
            <a:blipFill>
              <a:blip r:embed="rId2"/>
              <a:stretch>
                <a:fillRect b="-8754"/>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377669" y="4802239"/>
            <a:ext cx="4382454" cy="682521"/>
            <a:chOff x="0" y="0"/>
            <a:chExt cx="1154227" cy="179759"/>
          </a:xfrm>
        </p:grpSpPr>
        <p:sp>
          <p:nvSpPr>
            <p:cNvPr id="5" name="Freeform 5"/>
            <p:cNvSpPr/>
            <p:nvPr/>
          </p:nvSpPr>
          <p:spPr>
            <a:xfrm>
              <a:off x="0" y="0"/>
              <a:ext cx="1154227" cy="179759"/>
            </a:xfrm>
            <a:custGeom>
              <a:avLst/>
              <a:gdLst/>
              <a:ahLst/>
              <a:cxnLst/>
              <a:rect l="l" t="t" r="r" b="b"/>
              <a:pathLst>
                <a:path w="1154227" h="179759">
                  <a:moveTo>
                    <a:pt x="89879" y="0"/>
                  </a:moveTo>
                  <a:lnTo>
                    <a:pt x="1064347" y="0"/>
                  </a:lnTo>
                  <a:cubicBezTo>
                    <a:pt x="1088185" y="0"/>
                    <a:pt x="1111046" y="9469"/>
                    <a:pt x="1127902" y="26325"/>
                  </a:cubicBezTo>
                  <a:cubicBezTo>
                    <a:pt x="1144757" y="43181"/>
                    <a:pt x="1154227" y="66042"/>
                    <a:pt x="1154227" y="89879"/>
                  </a:cubicBezTo>
                  <a:lnTo>
                    <a:pt x="1154227" y="89879"/>
                  </a:lnTo>
                  <a:cubicBezTo>
                    <a:pt x="1154227" y="139518"/>
                    <a:pt x="1113986" y="179759"/>
                    <a:pt x="1064347"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154227"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Physical Device Inventory</a:t>
              </a:r>
            </a:p>
          </p:txBody>
        </p:sp>
      </p:grpSp>
      <p:sp>
        <p:nvSpPr>
          <p:cNvPr id="7" name="TextBox 7"/>
          <p:cNvSpPr txBox="1"/>
          <p:nvPr/>
        </p:nvSpPr>
        <p:spPr>
          <a:xfrm>
            <a:off x="10377669" y="653535"/>
            <a:ext cx="6356199" cy="3711224"/>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PHYSICAL LAB IMPLEMENTATION</a:t>
            </a:r>
          </a:p>
          <a:p>
            <a:pPr marL="0" lvl="0" indent="0" algn="l">
              <a:lnSpc>
                <a:spcPts val="7185"/>
              </a:lnSpc>
            </a:pPr>
            <a:r>
              <a:rPr lang="en-US" sz="7726" spc="-169">
                <a:solidFill>
                  <a:srgbClr val="047377"/>
                </a:solidFill>
                <a:latin typeface="Anton"/>
                <a:ea typeface="Anton"/>
                <a:cs typeface="Anton"/>
                <a:sym typeface="Anton"/>
              </a:rPr>
              <a:t>CORE HARDWARE SETUP</a:t>
            </a:r>
          </a:p>
        </p:txBody>
      </p:sp>
      <p:sp>
        <p:nvSpPr>
          <p:cNvPr id="8" name="TextBox 8"/>
          <p:cNvSpPr txBox="1"/>
          <p:nvPr/>
        </p:nvSpPr>
        <p:spPr>
          <a:xfrm>
            <a:off x="10377669" y="6085032"/>
            <a:ext cx="7243256" cy="3657102"/>
          </a:xfrm>
          <a:prstGeom prst="rect">
            <a:avLst/>
          </a:prstGeom>
        </p:spPr>
        <p:txBody>
          <a:bodyPr lIns="0" tIns="0" rIns="0" bIns="0" rtlCol="0" anchor="t">
            <a:spAutoFit/>
          </a:bodyPr>
          <a:lstStyle/>
          <a:p>
            <a:pPr marL="409042" lvl="1" indent="-204521" algn="l">
              <a:lnSpc>
                <a:spcPts val="2652"/>
              </a:lnSpc>
              <a:buFont typeface="Arial"/>
              <a:buChar char="•"/>
            </a:pPr>
            <a:r>
              <a:rPr lang="en-US" sz="1894">
                <a:solidFill>
                  <a:srgbClr val="047377"/>
                </a:solidFill>
                <a:latin typeface="Inter"/>
                <a:ea typeface="Inter"/>
                <a:cs typeface="Inter"/>
                <a:sym typeface="Inter"/>
              </a:rPr>
              <a:t>Main Router &amp; Network Switch: Central gateway providing DHCP services and internet routingSwitches: D-Link managed switch enables wired connectivity and port expansion for all lab devices.</a:t>
            </a:r>
          </a:p>
          <a:p>
            <a:pPr marL="409042" lvl="1" indent="-204521" algn="l">
              <a:lnSpc>
                <a:spcPts val="2652"/>
              </a:lnSpc>
              <a:buFont typeface="Arial"/>
              <a:buChar char="•"/>
            </a:pPr>
            <a:r>
              <a:rPr lang="en-US" sz="1894">
                <a:solidFill>
                  <a:srgbClr val="047377"/>
                </a:solidFill>
                <a:latin typeface="Inter"/>
                <a:ea typeface="Inter"/>
                <a:cs typeface="Inter"/>
                <a:sym typeface="Inter"/>
              </a:rPr>
              <a:t>Dual Access Points &amp; Surveillance: TP-Link and Mercusys APs deliver Wi-Fi coverage with wired expansion ports</a:t>
            </a:r>
          </a:p>
          <a:p>
            <a:pPr marL="409042" lvl="1" indent="-204521" algn="l">
              <a:lnSpc>
                <a:spcPts val="2652"/>
              </a:lnSpc>
              <a:buFont typeface="Arial"/>
              <a:buChar char="•"/>
            </a:pPr>
            <a:r>
              <a:rPr lang="en-US" sz="1894">
                <a:solidFill>
                  <a:srgbClr val="047377"/>
                </a:solidFill>
                <a:latin typeface="Inter"/>
                <a:ea typeface="Inter"/>
                <a:cs typeface="Inter"/>
                <a:sym typeface="Inter"/>
              </a:rPr>
              <a:t>FTP Server &amp; Workstations: Dedicated file transfer environment with high-performance laptops for VLAN testing, security analysis, and network performance evaluation. Smart TV and peripherals for real-world simulation.</a:t>
            </a:r>
          </a:p>
        </p:txBody>
      </p:sp>
      <p:sp>
        <p:nvSpPr>
          <p:cNvPr id="9" name="Freeform 9"/>
          <p:cNvSpPr/>
          <p:nvPr/>
        </p:nvSpPr>
        <p:spPr>
          <a:xfrm>
            <a:off x="-5928881" y="-10517678"/>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5461065"/>
            <a:chOff x="0" y="0"/>
            <a:chExt cx="2630653" cy="885128"/>
          </a:xfrm>
        </p:grpSpPr>
        <p:sp>
          <p:nvSpPr>
            <p:cNvPr id="3" name="Freeform 3"/>
            <p:cNvSpPr/>
            <p:nvPr/>
          </p:nvSpPr>
          <p:spPr>
            <a:xfrm>
              <a:off x="0" y="0"/>
              <a:ext cx="2630653" cy="885128"/>
            </a:xfrm>
            <a:custGeom>
              <a:avLst/>
              <a:gdLst/>
              <a:ahLst/>
              <a:cxnLst/>
              <a:rect l="l" t="t" r="r" b="b"/>
              <a:pathLst>
                <a:path w="2630653" h="885128">
                  <a:moveTo>
                    <a:pt x="23850" y="0"/>
                  </a:moveTo>
                  <a:lnTo>
                    <a:pt x="2606803" y="0"/>
                  </a:lnTo>
                  <a:cubicBezTo>
                    <a:pt x="2613128" y="0"/>
                    <a:pt x="2619194" y="2513"/>
                    <a:pt x="2623667" y="6985"/>
                  </a:cubicBezTo>
                  <a:cubicBezTo>
                    <a:pt x="2628140" y="11458"/>
                    <a:pt x="2630653" y="17524"/>
                    <a:pt x="2630653" y="23850"/>
                  </a:cubicBezTo>
                  <a:lnTo>
                    <a:pt x="2630653" y="861279"/>
                  </a:lnTo>
                  <a:cubicBezTo>
                    <a:pt x="2630653" y="874450"/>
                    <a:pt x="2619975" y="885128"/>
                    <a:pt x="2606803" y="885128"/>
                  </a:cubicBezTo>
                  <a:lnTo>
                    <a:pt x="23850" y="885128"/>
                  </a:lnTo>
                  <a:cubicBezTo>
                    <a:pt x="17524" y="885128"/>
                    <a:pt x="11458" y="882616"/>
                    <a:pt x="6985" y="878143"/>
                  </a:cubicBezTo>
                  <a:cubicBezTo>
                    <a:pt x="2513" y="873670"/>
                    <a:pt x="0" y="867604"/>
                    <a:pt x="0" y="861279"/>
                  </a:cubicBezTo>
                  <a:lnTo>
                    <a:pt x="0" y="23850"/>
                  </a:lnTo>
                  <a:cubicBezTo>
                    <a:pt x="0" y="17524"/>
                    <a:pt x="2513" y="11458"/>
                    <a:pt x="6985" y="6985"/>
                  </a:cubicBezTo>
                  <a:cubicBezTo>
                    <a:pt x="11458" y="2513"/>
                    <a:pt x="17524" y="0"/>
                    <a:pt x="23850" y="0"/>
                  </a:cubicBezTo>
                  <a:close/>
                </a:path>
              </a:pathLst>
            </a:custGeom>
            <a:blipFill>
              <a:blip r:embed="rId2"/>
              <a:stretch>
                <a:fillRect t="-34703" b="-34703"/>
              </a:stretch>
            </a:blipFill>
            <a:ln w="38100" cap="rnd">
              <a:solidFill>
                <a:srgbClr val="047377"/>
              </a:solidFill>
              <a:prstDash val="solid"/>
              <a:round/>
            </a:ln>
          </p:spPr>
          <p:txBody>
            <a:bodyPr/>
            <a:lstStyle/>
            <a:p>
              <a:endParaRPr lang="en-US"/>
            </a:p>
          </p:txBody>
        </p:sp>
      </p:grpSp>
      <p:sp>
        <p:nvSpPr>
          <p:cNvPr id="4" name="TextBox 4"/>
          <p:cNvSpPr txBox="1"/>
          <p:nvPr/>
        </p:nvSpPr>
        <p:spPr>
          <a:xfrm>
            <a:off x="1028700" y="7311974"/>
            <a:ext cx="5767889" cy="1691798"/>
          </a:xfrm>
          <a:prstGeom prst="rect">
            <a:avLst/>
          </a:prstGeom>
        </p:spPr>
        <p:txBody>
          <a:bodyPr lIns="0" tIns="0" rIns="0" bIns="0" rtlCol="0" anchor="t">
            <a:spAutoFit/>
          </a:bodyPr>
          <a:lstStyle/>
          <a:p>
            <a:pPr marL="0" lvl="0" indent="0" algn="l">
              <a:lnSpc>
                <a:spcPts val="6433"/>
              </a:lnSpc>
            </a:pPr>
            <a:r>
              <a:rPr lang="en-US" sz="6917" spc="-152">
                <a:solidFill>
                  <a:srgbClr val="047377"/>
                </a:solidFill>
                <a:latin typeface="Anton"/>
                <a:ea typeface="Anton"/>
                <a:cs typeface="Anton"/>
                <a:sym typeface="Anton"/>
              </a:rPr>
              <a:t>PHYSICAL LAB SETUP</a:t>
            </a:r>
          </a:p>
        </p:txBody>
      </p:sp>
      <p:sp>
        <p:nvSpPr>
          <p:cNvPr id="5" name="TextBox 5"/>
          <p:cNvSpPr txBox="1"/>
          <p:nvPr/>
        </p:nvSpPr>
        <p:spPr>
          <a:xfrm>
            <a:off x="6575669" y="7459419"/>
            <a:ext cx="10462711" cy="1544352"/>
          </a:xfrm>
          <a:prstGeom prst="rect">
            <a:avLst/>
          </a:prstGeom>
        </p:spPr>
        <p:txBody>
          <a:bodyPr lIns="0" tIns="0" rIns="0" bIns="0" rtlCol="0" anchor="t">
            <a:spAutoFit/>
          </a:bodyPr>
          <a:lstStyle/>
          <a:p>
            <a:pPr marL="0" lvl="0" indent="0" algn="just">
              <a:lnSpc>
                <a:spcPts val="3078"/>
              </a:lnSpc>
              <a:spcBef>
                <a:spcPct val="0"/>
              </a:spcBef>
            </a:pPr>
            <a:r>
              <a:rPr lang="en-US" sz="2198">
                <a:solidFill>
                  <a:srgbClr val="047377"/>
                </a:solidFill>
                <a:latin typeface="Inter"/>
                <a:ea typeface="Inter"/>
                <a:cs typeface="Inter"/>
                <a:sym typeface="Inter"/>
              </a:rPr>
              <a:t>Physical networking hardware and surveillance system in the lab environment. The setup includes the main router serving as central gateway, D-Link network switch, TP-Link and Mercusys access points, Hikvision DVR with surveillance cameras, and high-performance workstations for testing.</a:t>
            </a:r>
          </a:p>
        </p:txBody>
      </p:sp>
      <p:sp>
        <p:nvSpPr>
          <p:cNvPr id="6" name="Freeform 6"/>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sp>
        <p:nvSpPr>
          <p:cNvPr id="2" name="TextBox 2"/>
          <p:cNvSpPr txBox="1"/>
          <p:nvPr/>
        </p:nvSpPr>
        <p:spPr>
          <a:xfrm>
            <a:off x="2286408" y="316611"/>
            <a:ext cx="14305031" cy="976503"/>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ROLES OF CORE HARDWARE COMPONENTS</a:t>
            </a:r>
          </a:p>
        </p:txBody>
      </p:sp>
      <p:sp>
        <p:nvSpPr>
          <p:cNvPr id="3" name="TextBox 3"/>
          <p:cNvSpPr txBox="1"/>
          <p:nvPr/>
        </p:nvSpPr>
        <p:spPr>
          <a:xfrm>
            <a:off x="1661315" y="2081320"/>
            <a:ext cx="5755643" cy="3348188"/>
          </a:xfrm>
          <a:prstGeom prst="rect">
            <a:avLst/>
          </a:prstGeom>
        </p:spPr>
        <p:txBody>
          <a:bodyPr lIns="0" tIns="0" rIns="0" bIns="0" rtlCol="0" anchor="t">
            <a:spAutoFit/>
          </a:bodyPr>
          <a:lstStyle/>
          <a:p>
            <a:pPr marL="0" lvl="0" indent="0" algn="just">
              <a:lnSpc>
                <a:spcPts val="3499"/>
              </a:lnSpc>
              <a:spcBef>
                <a:spcPct val="0"/>
              </a:spcBef>
            </a:pPr>
            <a:r>
              <a:rPr lang="en-US" sz="2499" b="1">
                <a:solidFill>
                  <a:srgbClr val="047377"/>
                </a:solidFill>
                <a:latin typeface="Inter Bold"/>
                <a:ea typeface="Inter Bold"/>
                <a:cs typeface="Inter Bold"/>
                <a:sym typeface="Inter Bold"/>
              </a:rPr>
              <a:t>Main Gateway Router</a:t>
            </a:r>
          </a:p>
          <a:p>
            <a:pPr marL="0" lvl="0" indent="0" algn="just">
              <a:lnSpc>
                <a:spcPts val="3308"/>
              </a:lnSpc>
              <a:spcBef>
                <a:spcPct val="0"/>
              </a:spcBef>
            </a:pPr>
            <a:r>
              <a:rPr lang="en-US" sz="2363">
                <a:solidFill>
                  <a:srgbClr val="047377"/>
                </a:solidFill>
                <a:latin typeface="Inter"/>
                <a:ea typeface="Inter"/>
                <a:cs typeface="Inter"/>
                <a:sym typeface="Inter"/>
              </a:rPr>
              <a:t>• Internet access gateway</a:t>
            </a:r>
          </a:p>
          <a:p>
            <a:pPr marL="0" lvl="0" indent="0" algn="just">
              <a:lnSpc>
                <a:spcPts val="3308"/>
              </a:lnSpc>
              <a:spcBef>
                <a:spcPct val="0"/>
              </a:spcBef>
            </a:pPr>
            <a:r>
              <a:rPr lang="en-US" sz="2363">
                <a:solidFill>
                  <a:srgbClr val="047377"/>
                </a:solidFill>
                <a:latin typeface="Inter"/>
                <a:ea typeface="Inter"/>
                <a:cs typeface="Inter"/>
                <a:sym typeface="Inter"/>
              </a:rPr>
              <a:t>• DHCP server functionality</a:t>
            </a:r>
          </a:p>
          <a:p>
            <a:pPr marL="0" lvl="0" indent="0" algn="just">
              <a:lnSpc>
                <a:spcPts val="3308"/>
              </a:lnSpc>
              <a:spcBef>
                <a:spcPct val="0"/>
              </a:spcBef>
            </a:pPr>
            <a:r>
              <a:rPr lang="en-US" sz="2363">
                <a:solidFill>
                  <a:srgbClr val="047377"/>
                </a:solidFill>
                <a:latin typeface="Inter"/>
                <a:ea typeface="Inter"/>
                <a:cs typeface="Inter"/>
                <a:sym typeface="Inter"/>
              </a:rPr>
              <a:t>• Traffic routing &amp; NAT</a:t>
            </a:r>
          </a:p>
          <a:p>
            <a:pPr marL="0" lvl="0" indent="0" algn="just">
              <a:lnSpc>
                <a:spcPts val="3308"/>
              </a:lnSpc>
              <a:spcBef>
                <a:spcPct val="0"/>
              </a:spcBef>
            </a:pPr>
            <a:r>
              <a:rPr lang="en-US" sz="2363">
                <a:solidFill>
                  <a:srgbClr val="047377"/>
                </a:solidFill>
                <a:latin typeface="Inter"/>
                <a:ea typeface="Inter"/>
                <a:cs typeface="Inter"/>
                <a:sym typeface="Inter"/>
              </a:rPr>
              <a:t>• Central management hub</a:t>
            </a:r>
          </a:p>
          <a:p>
            <a:pPr marL="0" lvl="0" indent="0" algn="just">
              <a:lnSpc>
                <a:spcPts val="3308"/>
              </a:lnSpc>
              <a:spcBef>
                <a:spcPct val="0"/>
              </a:spcBef>
            </a:pPr>
            <a:r>
              <a:rPr lang="en-US" sz="2363">
                <a:solidFill>
                  <a:srgbClr val="047377"/>
                </a:solidFill>
                <a:latin typeface="Inter"/>
                <a:ea typeface="Inter"/>
                <a:cs typeface="Inter"/>
                <a:sym typeface="Inter"/>
              </a:rPr>
              <a:t>• Firewall integration</a:t>
            </a:r>
          </a:p>
          <a:p>
            <a:pPr marL="0" lvl="0" indent="0" algn="just">
              <a:lnSpc>
                <a:spcPts val="3308"/>
              </a:lnSpc>
              <a:spcBef>
                <a:spcPct val="0"/>
              </a:spcBef>
            </a:pPr>
            <a:r>
              <a:rPr lang="en-US" sz="2363">
                <a:solidFill>
                  <a:srgbClr val="047377"/>
                </a:solidFill>
                <a:latin typeface="Inter"/>
                <a:ea typeface="Inter"/>
                <a:cs typeface="Inter"/>
                <a:sym typeface="Inter"/>
              </a:rPr>
              <a:t>• Network address translation</a:t>
            </a:r>
          </a:p>
          <a:p>
            <a:pPr marL="0" lvl="0" indent="0" algn="just">
              <a:lnSpc>
                <a:spcPts val="3308"/>
              </a:lnSpc>
              <a:spcBef>
                <a:spcPct val="0"/>
              </a:spcBef>
            </a:pPr>
            <a:endParaRPr lang="en-US" sz="2363">
              <a:solidFill>
                <a:srgbClr val="047377"/>
              </a:solidFill>
              <a:latin typeface="Inter"/>
              <a:ea typeface="Inter"/>
              <a:cs typeface="Inter"/>
              <a:sym typeface="Inter"/>
            </a:endParaRPr>
          </a:p>
        </p:txBody>
      </p:sp>
      <p:sp>
        <p:nvSpPr>
          <p:cNvPr id="4" name="Freeform 4"/>
          <p:cNvSpPr/>
          <p:nvPr/>
        </p:nvSpPr>
        <p:spPr>
          <a:xfrm>
            <a:off x="-336324" y="-783058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p:cNvSpPr txBox="1"/>
          <p:nvPr/>
        </p:nvSpPr>
        <p:spPr>
          <a:xfrm>
            <a:off x="5985912" y="5647334"/>
            <a:ext cx="6906023" cy="3347720"/>
          </a:xfrm>
          <a:prstGeom prst="rect">
            <a:avLst/>
          </a:prstGeom>
        </p:spPr>
        <p:txBody>
          <a:bodyPr lIns="0" tIns="0" rIns="0" bIns="0" rtlCol="0" anchor="t">
            <a:spAutoFit/>
          </a:bodyPr>
          <a:lstStyle/>
          <a:p>
            <a:pPr marL="0" lvl="0" indent="0" algn="just">
              <a:lnSpc>
                <a:spcPts val="3499"/>
              </a:lnSpc>
              <a:spcBef>
                <a:spcPct val="0"/>
              </a:spcBef>
            </a:pPr>
            <a:r>
              <a:rPr lang="en-US" sz="2499" b="1">
                <a:solidFill>
                  <a:srgbClr val="047377"/>
                </a:solidFill>
                <a:latin typeface="Inter Bold"/>
                <a:ea typeface="Inter Bold"/>
                <a:cs typeface="Inter Bold"/>
                <a:sym typeface="Inter Bold"/>
              </a:rPr>
              <a:t>Access Points &amp; Surveillance</a:t>
            </a:r>
          </a:p>
          <a:p>
            <a:pPr marL="0" lvl="0" indent="0" algn="just">
              <a:lnSpc>
                <a:spcPts val="3359"/>
              </a:lnSpc>
              <a:spcBef>
                <a:spcPct val="0"/>
              </a:spcBef>
            </a:pPr>
            <a:r>
              <a:rPr lang="en-US" sz="2400">
                <a:solidFill>
                  <a:srgbClr val="047377"/>
                </a:solidFill>
                <a:latin typeface="Inter"/>
                <a:ea typeface="Inter"/>
                <a:cs typeface="Inter"/>
                <a:sym typeface="Inter"/>
              </a:rPr>
              <a:t>• Wireless signal distribution</a:t>
            </a:r>
          </a:p>
          <a:p>
            <a:pPr marL="0" lvl="0" indent="0" algn="just">
              <a:lnSpc>
                <a:spcPts val="3359"/>
              </a:lnSpc>
              <a:spcBef>
                <a:spcPct val="0"/>
              </a:spcBef>
            </a:pPr>
            <a:r>
              <a:rPr lang="en-US" sz="2400">
                <a:solidFill>
                  <a:srgbClr val="047377"/>
                </a:solidFill>
                <a:latin typeface="Inter"/>
                <a:ea typeface="Inter"/>
                <a:cs typeface="Inter"/>
                <a:sym typeface="Inter"/>
              </a:rPr>
              <a:t>• Multi-zone Wi-Fi coverage</a:t>
            </a:r>
          </a:p>
          <a:p>
            <a:pPr marL="0" lvl="0" indent="0" algn="just">
              <a:lnSpc>
                <a:spcPts val="3359"/>
              </a:lnSpc>
              <a:spcBef>
                <a:spcPct val="0"/>
              </a:spcBef>
            </a:pPr>
            <a:r>
              <a:rPr lang="en-US" sz="2400">
                <a:solidFill>
                  <a:srgbClr val="047377"/>
                </a:solidFill>
                <a:latin typeface="Inter"/>
                <a:ea typeface="Inter"/>
                <a:cs typeface="Inter"/>
                <a:sym typeface="Inter"/>
              </a:rPr>
              <a:t>• Static IP management</a:t>
            </a:r>
          </a:p>
          <a:p>
            <a:pPr marL="0" lvl="0" indent="0" algn="just">
              <a:lnSpc>
                <a:spcPts val="3359"/>
              </a:lnSpc>
              <a:spcBef>
                <a:spcPct val="0"/>
              </a:spcBef>
            </a:pPr>
            <a:r>
              <a:rPr lang="en-US" sz="2400">
                <a:solidFill>
                  <a:srgbClr val="047377"/>
                </a:solidFill>
                <a:latin typeface="Inter"/>
                <a:ea typeface="Inter"/>
                <a:cs typeface="Inter"/>
                <a:sym typeface="Inter"/>
              </a:rPr>
              <a:t>• DVR video processing</a:t>
            </a:r>
          </a:p>
          <a:p>
            <a:pPr marL="0" lvl="0" indent="0" algn="just">
              <a:lnSpc>
                <a:spcPts val="3359"/>
              </a:lnSpc>
              <a:spcBef>
                <a:spcPct val="0"/>
              </a:spcBef>
            </a:pPr>
            <a:r>
              <a:rPr lang="en-US" sz="2400">
                <a:solidFill>
                  <a:srgbClr val="047377"/>
                </a:solidFill>
                <a:latin typeface="Inter"/>
                <a:ea typeface="Inter"/>
                <a:cs typeface="Inter"/>
                <a:sym typeface="Inter"/>
              </a:rPr>
              <a:t>• Night vision &amp; audio features</a:t>
            </a:r>
          </a:p>
          <a:p>
            <a:pPr marL="0" lvl="0" indent="0" algn="just">
              <a:lnSpc>
                <a:spcPts val="3359"/>
              </a:lnSpc>
              <a:spcBef>
                <a:spcPct val="0"/>
              </a:spcBef>
            </a:pPr>
            <a:r>
              <a:rPr lang="en-US" sz="2400">
                <a:solidFill>
                  <a:srgbClr val="047377"/>
                </a:solidFill>
                <a:latin typeface="Inter"/>
                <a:ea typeface="Inter"/>
                <a:cs typeface="Inter"/>
                <a:sym typeface="Inter"/>
              </a:rPr>
              <a:t>• Converged security networking</a:t>
            </a:r>
          </a:p>
          <a:p>
            <a:pPr marL="0" lvl="0" indent="0" algn="just">
              <a:lnSpc>
                <a:spcPts val="3359"/>
              </a:lnSpc>
              <a:spcBef>
                <a:spcPct val="0"/>
              </a:spcBef>
            </a:pPr>
            <a:endParaRPr lang="en-US" sz="2400">
              <a:solidFill>
                <a:srgbClr val="047377"/>
              </a:solidFill>
              <a:latin typeface="Inter"/>
              <a:ea typeface="Inter"/>
              <a:cs typeface="Inter"/>
              <a:sym typeface="Inter"/>
            </a:endParaRPr>
          </a:p>
        </p:txBody>
      </p:sp>
      <p:sp>
        <p:nvSpPr>
          <p:cNvPr id="6" name="TextBox 6"/>
          <p:cNvSpPr txBox="1"/>
          <p:nvPr/>
        </p:nvSpPr>
        <p:spPr>
          <a:xfrm>
            <a:off x="11381977" y="2081320"/>
            <a:ext cx="6286588" cy="3348188"/>
          </a:xfrm>
          <a:prstGeom prst="rect">
            <a:avLst/>
          </a:prstGeom>
        </p:spPr>
        <p:txBody>
          <a:bodyPr lIns="0" tIns="0" rIns="0" bIns="0" rtlCol="0" anchor="t">
            <a:spAutoFit/>
          </a:bodyPr>
          <a:lstStyle/>
          <a:p>
            <a:pPr marL="0" lvl="0" indent="0" algn="just">
              <a:lnSpc>
                <a:spcPts val="3499"/>
              </a:lnSpc>
              <a:spcBef>
                <a:spcPct val="0"/>
              </a:spcBef>
            </a:pPr>
            <a:r>
              <a:rPr lang="en-US" sz="2499" b="1">
                <a:solidFill>
                  <a:srgbClr val="047377"/>
                </a:solidFill>
                <a:latin typeface="Inter Bold"/>
                <a:ea typeface="Inter Bold"/>
                <a:cs typeface="Inter Bold"/>
                <a:sym typeface="Inter Bold"/>
              </a:rPr>
              <a:t>Network Switch</a:t>
            </a:r>
          </a:p>
          <a:p>
            <a:pPr marL="0" lvl="0" indent="0" algn="just">
              <a:lnSpc>
                <a:spcPts val="3308"/>
              </a:lnSpc>
              <a:spcBef>
                <a:spcPct val="0"/>
              </a:spcBef>
            </a:pPr>
            <a:r>
              <a:rPr lang="en-US" sz="2363">
                <a:solidFill>
                  <a:srgbClr val="047377"/>
                </a:solidFill>
                <a:latin typeface="Inter"/>
                <a:ea typeface="Inter"/>
                <a:cs typeface="Inter"/>
                <a:sym typeface="Inter"/>
              </a:rPr>
              <a:t>• Physical device connectivity</a:t>
            </a:r>
          </a:p>
          <a:p>
            <a:pPr marL="0" lvl="0" indent="0" algn="just">
              <a:lnSpc>
                <a:spcPts val="3308"/>
              </a:lnSpc>
              <a:spcBef>
                <a:spcPct val="0"/>
              </a:spcBef>
            </a:pPr>
            <a:r>
              <a:rPr lang="en-US" sz="2363">
                <a:solidFill>
                  <a:srgbClr val="047377"/>
                </a:solidFill>
                <a:latin typeface="Inter"/>
                <a:ea typeface="Inter"/>
                <a:cs typeface="Inter"/>
                <a:sym typeface="Inter"/>
              </a:rPr>
              <a:t>• Layer 2 traffic management</a:t>
            </a:r>
          </a:p>
          <a:p>
            <a:pPr marL="0" lvl="0" indent="0" algn="just">
              <a:lnSpc>
                <a:spcPts val="3308"/>
              </a:lnSpc>
              <a:spcBef>
                <a:spcPct val="0"/>
              </a:spcBef>
            </a:pPr>
            <a:r>
              <a:rPr lang="en-US" sz="2363">
                <a:solidFill>
                  <a:srgbClr val="047377"/>
                </a:solidFill>
                <a:latin typeface="Inter"/>
                <a:ea typeface="Inter"/>
                <a:cs typeface="Inter"/>
                <a:sym typeface="Inter"/>
              </a:rPr>
              <a:t>• Port expansion capability</a:t>
            </a:r>
          </a:p>
          <a:p>
            <a:pPr marL="0" lvl="0" indent="0" algn="just">
              <a:lnSpc>
                <a:spcPts val="3308"/>
              </a:lnSpc>
              <a:spcBef>
                <a:spcPct val="0"/>
              </a:spcBef>
            </a:pPr>
            <a:r>
              <a:rPr lang="en-US" sz="2363">
                <a:solidFill>
                  <a:srgbClr val="047377"/>
                </a:solidFill>
                <a:latin typeface="Inter"/>
                <a:ea typeface="Inter"/>
                <a:cs typeface="Inter"/>
                <a:sym typeface="Inter"/>
              </a:rPr>
              <a:t>• Congestion reduction</a:t>
            </a:r>
          </a:p>
          <a:p>
            <a:pPr marL="0" lvl="0" indent="0" algn="just">
              <a:lnSpc>
                <a:spcPts val="3308"/>
              </a:lnSpc>
              <a:spcBef>
                <a:spcPct val="0"/>
              </a:spcBef>
            </a:pPr>
            <a:r>
              <a:rPr lang="en-US" sz="2363">
                <a:solidFill>
                  <a:srgbClr val="047377"/>
                </a:solidFill>
                <a:latin typeface="Inter"/>
                <a:ea typeface="Inter"/>
                <a:cs typeface="Inter"/>
                <a:sym typeface="Inter"/>
              </a:rPr>
              <a:t>• Core backbone support</a:t>
            </a:r>
          </a:p>
          <a:p>
            <a:pPr marL="0" lvl="0" indent="0" algn="just">
              <a:lnSpc>
                <a:spcPts val="3308"/>
              </a:lnSpc>
              <a:spcBef>
                <a:spcPct val="0"/>
              </a:spcBef>
            </a:pPr>
            <a:r>
              <a:rPr lang="en-US" sz="2363">
                <a:solidFill>
                  <a:srgbClr val="047377"/>
                </a:solidFill>
                <a:latin typeface="Inter"/>
                <a:ea typeface="Inter"/>
                <a:cs typeface="Inter"/>
                <a:sym typeface="Inter"/>
              </a:rPr>
              <a:t>• VLAN segmentation ready</a:t>
            </a:r>
          </a:p>
          <a:p>
            <a:pPr marL="0" lvl="0" indent="0" algn="just">
              <a:lnSpc>
                <a:spcPts val="3308"/>
              </a:lnSpc>
              <a:spcBef>
                <a:spcPct val="0"/>
              </a:spcBef>
            </a:pPr>
            <a:endParaRPr lang="en-US" sz="2363">
              <a:solidFill>
                <a:srgbClr val="047377"/>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sp>
        <p:nvSpPr>
          <p:cNvPr id="2" name="TextBox 2"/>
          <p:cNvSpPr txBox="1"/>
          <p:nvPr/>
        </p:nvSpPr>
        <p:spPr>
          <a:xfrm>
            <a:off x="1294172" y="1498718"/>
            <a:ext cx="5741257" cy="496841"/>
          </a:xfrm>
          <a:prstGeom prst="rect">
            <a:avLst/>
          </a:prstGeom>
        </p:spPr>
        <p:txBody>
          <a:bodyPr lIns="0" tIns="0" rIns="0" bIns="0" rtlCol="0" anchor="t">
            <a:spAutoFit/>
          </a:bodyPr>
          <a:lstStyle/>
          <a:p>
            <a:pPr marL="0" lvl="0" indent="0" algn="l">
              <a:lnSpc>
                <a:spcPts val="3658"/>
              </a:lnSpc>
            </a:pPr>
            <a:r>
              <a:rPr lang="en-US" sz="3933" spc="-86">
                <a:solidFill>
                  <a:srgbClr val="047377"/>
                </a:solidFill>
                <a:latin typeface="Anton"/>
                <a:ea typeface="Anton"/>
                <a:cs typeface="Anton"/>
                <a:sym typeface="Anton"/>
              </a:rPr>
              <a:t>HARDWARE ROLES COMPARISON</a:t>
            </a:r>
          </a:p>
        </p:txBody>
      </p:sp>
      <p:sp>
        <p:nvSpPr>
          <p:cNvPr id="3" name="Freeform 3"/>
          <p:cNvSpPr/>
          <p:nvPr/>
        </p:nvSpPr>
        <p:spPr>
          <a:xfrm>
            <a:off x="0" y="-7615022"/>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13454424" y="1028700"/>
            <a:ext cx="3804876" cy="3547520"/>
            <a:chOff x="0" y="0"/>
            <a:chExt cx="812800" cy="757823"/>
          </a:xfrm>
        </p:grpSpPr>
        <p:sp>
          <p:nvSpPr>
            <p:cNvPr id="5" name="Freeform 5"/>
            <p:cNvSpPr/>
            <p:nvPr/>
          </p:nvSpPr>
          <p:spPr>
            <a:xfrm>
              <a:off x="0" y="0"/>
              <a:ext cx="812800" cy="757823"/>
            </a:xfrm>
            <a:custGeom>
              <a:avLst/>
              <a:gdLst/>
              <a:ahLst/>
              <a:cxnLst/>
              <a:rect l="l" t="t" r="r" b="b"/>
              <a:pathLst>
                <a:path w="812800" h="757823">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3"/>
              <a:stretch>
                <a:fillRect t="-3627" b="-3627"/>
              </a:stretch>
            </a:blipFill>
          </p:spPr>
          <p:txBody>
            <a:bodyPr/>
            <a:lstStyle/>
            <a:p>
              <a:endParaRPr lang="en-US"/>
            </a:p>
          </p:txBody>
        </p:sp>
      </p:grpSp>
      <p:grpSp>
        <p:nvGrpSpPr>
          <p:cNvPr id="6" name="Group 6"/>
          <p:cNvGrpSpPr/>
          <p:nvPr/>
        </p:nvGrpSpPr>
        <p:grpSpPr>
          <a:xfrm>
            <a:off x="13454424" y="5301745"/>
            <a:ext cx="3804876" cy="3547520"/>
            <a:chOff x="0" y="0"/>
            <a:chExt cx="812800" cy="757823"/>
          </a:xfrm>
        </p:grpSpPr>
        <p:sp>
          <p:nvSpPr>
            <p:cNvPr id="7" name="Freeform 7"/>
            <p:cNvSpPr/>
            <p:nvPr/>
          </p:nvSpPr>
          <p:spPr>
            <a:xfrm>
              <a:off x="0" y="0"/>
              <a:ext cx="812800" cy="757823"/>
            </a:xfrm>
            <a:custGeom>
              <a:avLst/>
              <a:gdLst/>
              <a:ahLst/>
              <a:cxnLst/>
              <a:rect l="l" t="t" r="r" b="b"/>
              <a:pathLst>
                <a:path w="812800" h="757823">
                  <a:moveTo>
                    <a:pt x="46799" y="0"/>
                  </a:moveTo>
                  <a:lnTo>
                    <a:pt x="766001" y="0"/>
                  </a:lnTo>
                  <a:cubicBezTo>
                    <a:pt x="791847" y="0"/>
                    <a:pt x="812800" y="20953"/>
                    <a:pt x="812800" y="46799"/>
                  </a:cubicBezTo>
                  <a:lnTo>
                    <a:pt x="812800" y="711024"/>
                  </a:lnTo>
                  <a:cubicBezTo>
                    <a:pt x="812800" y="736871"/>
                    <a:pt x="791847" y="757823"/>
                    <a:pt x="766001" y="757823"/>
                  </a:cubicBezTo>
                  <a:lnTo>
                    <a:pt x="46799" y="757823"/>
                  </a:lnTo>
                  <a:cubicBezTo>
                    <a:pt x="20953" y="757823"/>
                    <a:pt x="0" y="736871"/>
                    <a:pt x="0" y="711024"/>
                  </a:cubicBezTo>
                  <a:lnTo>
                    <a:pt x="0" y="46799"/>
                  </a:lnTo>
                  <a:cubicBezTo>
                    <a:pt x="0" y="20953"/>
                    <a:pt x="20953" y="0"/>
                    <a:pt x="46799" y="0"/>
                  </a:cubicBezTo>
                  <a:close/>
                </a:path>
              </a:pathLst>
            </a:custGeom>
            <a:blipFill>
              <a:blip r:embed="rId4"/>
              <a:stretch>
                <a:fillRect t="-3627" b="-3627"/>
              </a:stretch>
            </a:blipFill>
          </p:spPr>
          <p:txBody>
            <a:bodyPr/>
            <a:lstStyle/>
            <a:p>
              <a:endParaRPr lang="en-US"/>
            </a:p>
          </p:txBody>
        </p:sp>
      </p:grpSp>
      <p:sp>
        <p:nvSpPr>
          <p:cNvPr id="8" name="TextBox 8"/>
          <p:cNvSpPr txBox="1"/>
          <p:nvPr/>
        </p:nvSpPr>
        <p:spPr>
          <a:xfrm>
            <a:off x="2107107" y="2748249"/>
            <a:ext cx="10148400" cy="1592946"/>
          </a:xfrm>
          <a:prstGeom prst="rect">
            <a:avLst/>
          </a:prstGeom>
        </p:spPr>
        <p:txBody>
          <a:bodyPr lIns="0" tIns="0" rIns="0" bIns="0" rtlCol="0" anchor="t">
            <a:spAutoFit/>
          </a:bodyPr>
          <a:lstStyle/>
          <a:p>
            <a:pPr marL="0" lvl="0" indent="0" algn="l">
              <a:lnSpc>
                <a:spcPts val="3189"/>
              </a:lnSpc>
            </a:pPr>
            <a:r>
              <a:rPr lang="en-US" sz="2798">
                <a:solidFill>
                  <a:srgbClr val="047377"/>
                </a:solidFill>
                <a:latin typeface="Koho"/>
                <a:ea typeface="Koho"/>
                <a:cs typeface="Koho"/>
                <a:sym typeface="Koho"/>
              </a:rPr>
              <a:t>Wired Devices (Router, Switch, Wired PCs): Stable, high-bandwidth connections forming the core network backbone. Reliable data transfer with minimal latency, essential for critical infrastructure and server communications.</a:t>
            </a:r>
          </a:p>
        </p:txBody>
      </p:sp>
      <p:sp>
        <p:nvSpPr>
          <p:cNvPr id="9" name="TextBox 9"/>
          <p:cNvSpPr txBox="1"/>
          <p:nvPr/>
        </p:nvSpPr>
        <p:spPr>
          <a:xfrm>
            <a:off x="2107107" y="4707492"/>
            <a:ext cx="10148400" cy="1592946"/>
          </a:xfrm>
          <a:prstGeom prst="rect">
            <a:avLst/>
          </a:prstGeom>
        </p:spPr>
        <p:txBody>
          <a:bodyPr lIns="0" tIns="0" rIns="0" bIns="0" rtlCol="0" anchor="t">
            <a:spAutoFit/>
          </a:bodyPr>
          <a:lstStyle/>
          <a:p>
            <a:pPr marL="0" lvl="0" indent="0" algn="l">
              <a:lnSpc>
                <a:spcPts val="3189"/>
              </a:lnSpc>
            </a:pPr>
            <a:r>
              <a:rPr lang="en-US" sz="2798">
                <a:solidFill>
                  <a:srgbClr val="047377"/>
                </a:solidFill>
                <a:latin typeface="Koho"/>
                <a:ea typeface="Koho"/>
                <a:cs typeface="Koho"/>
                <a:sym typeface="Koho"/>
              </a:rPr>
              <a:t>Wireless &amp; Security Devices (APs, Cameras, Mobile): Flexible coverage enabling mobility across zones. High-bandwidth video streaming for surveillance and IoT traffic management with seamless roaming capabilities.</a:t>
            </a:r>
          </a:p>
        </p:txBody>
      </p:sp>
      <p:sp>
        <p:nvSpPr>
          <p:cNvPr id="10" name="TextBox 10"/>
          <p:cNvSpPr txBox="1"/>
          <p:nvPr/>
        </p:nvSpPr>
        <p:spPr>
          <a:xfrm>
            <a:off x="2107107" y="6662403"/>
            <a:ext cx="10148400" cy="1592946"/>
          </a:xfrm>
          <a:prstGeom prst="rect">
            <a:avLst/>
          </a:prstGeom>
        </p:spPr>
        <p:txBody>
          <a:bodyPr lIns="0" tIns="0" rIns="0" bIns="0" rtlCol="0" anchor="t">
            <a:spAutoFit/>
          </a:bodyPr>
          <a:lstStyle/>
          <a:p>
            <a:pPr marL="0" lvl="0" indent="0" algn="l">
              <a:lnSpc>
                <a:spcPts val="3189"/>
              </a:lnSpc>
            </a:pPr>
            <a:r>
              <a:rPr lang="en-US" sz="2798">
                <a:solidFill>
                  <a:srgbClr val="047377"/>
                </a:solidFill>
                <a:latin typeface="Koho"/>
                <a:ea typeface="Koho"/>
                <a:cs typeface="Koho"/>
                <a:sym typeface="Koho"/>
              </a:rPr>
              <a:t>Hybrid Integration: Ensuring seamless connectivity across wired, wireless, and security infrastructure. Unified management enables efficient bandwidth allocation and comprehensive network monitoring.</a:t>
            </a:r>
          </a:p>
        </p:txBody>
      </p:sp>
      <p:sp>
        <p:nvSpPr>
          <p:cNvPr id="11" name="Freeform 11"/>
          <p:cNvSpPr/>
          <p:nvPr/>
        </p:nvSpPr>
        <p:spPr>
          <a:xfrm>
            <a:off x="1294172" y="2792935"/>
            <a:ext cx="679170" cy="679170"/>
          </a:xfrm>
          <a:custGeom>
            <a:avLst/>
            <a:gdLst/>
            <a:ahLst/>
            <a:cxnLst/>
            <a:rect l="l" t="t" r="r" b="b"/>
            <a:pathLst>
              <a:path w="679170" h="679170">
                <a:moveTo>
                  <a:pt x="0" y="0"/>
                </a:moveTo>
                <a:lnTo>
                  <a:pt x="679170" y="0"/>
                </a:lnTo>
                <a:lnTo>
                  <a:pt x="679170" y="679169"/>
                </a:lnTo>
                <a:lnTo>
                  <a:pt x="0" y="67916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294172" y="4761596"/>
            <a:ext cx="679170" cy="679170"/>
          </a:xfrm>
          <a:custGeom>
            <a:avLst/>
            <a:gdLst/>
            <a:ahLst/>
            <a:cxnLst/>
            <a:rect l="l" t="t" r="r" b="b"/>
            <a:pathLst>
              <a:path w="679170" h="679170">
                <a:moveTo>
                  <a:pt x="0" y="0"/>
                </a:moveTo>
                <a:lnTo>
                  <a:pt x="679170" y="0"/>
                </a:lnTo>
                <a:lnTo>
                  <a:pt x="679170" y="679170"/>
                </a:lnTo>
                <a:lnTo>
                  <a:pt x="0" y="67917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a:off x="1341797" y="6671928"/>
            <a:ext cx="679170" cy="679170"/>
          </a:xfrm>
          <a:custGeom>
            <a:avLst/>
            <a:gdLst/>
            <a:ahLst/>
            <a:cxnLst/>
            <a:rect l="l" t="t" r="r" b="b"/>
            <a:pathLst>
              <a:path w="679170" h="679170">
                <a:moveTo>
                  <a:pt x="0" y="0"/>
                </a:moveTo>
                <a:lnTo>
                  <a:pt x="679170" y="0"/>
                </a:lnTo>
                <a:lnTo>
                  <a:pt x="679170" y="679169"/>
                </a:lnTo>
                <a:lnTo>
                  <a:pt x="0" y="67916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sp>
        <p:nvSpPr>
          <p:cNvPr id="2" name="TextBox 2"/>
          <p:cNvSpPr txBox="1"/>
          <p:nvPr/>
        </p:nvSpPr>
        <p:spPr>
          <a:xfrm>
            <a:off x="1294172" y="1498718"/>
            <a:ext cx="7555318" cy="496841"/>
          </a:xfrm>
          <a:prstGeom prst="rect">
            <a:avLst/>
          </a:prstGeom>
        </p:spPr>
        <p:txBody>
          <a:bodyPr lIns="0" tIns="0" rIns="0" bIns="0" rtlCol="0" anchor="t">
            <a:spAutoFit/>
          </a:bodyPr>
          <a:lstStyle/>
          <a:p>
            <a:pPr marL="0" lvl="0" indent="0" algn="l">
              <a:lnSpc>
                <a:spcPts val="3658"/>
              </a:lnSpc>
            </a:pPr>
            <a:r>
              <a:rPr lang="en-US" sz="3933" spc="-86">
                <a:solidFill>
                  <a:srgbClr val="047377"/>
                </a:solidFill>
                <a:latin typeface="Anton"/>
                <a:ea typeface="Anton"/>
                <a:cs typeface="Anton"/>
                <a:sym typeface="Anton"/>
              </a:rPr>
              <a:t>STRATEGIC IMPORTANCE OF INTEGRATION</a:t>
            </a:r>
          </a:p>
        </p:txBody>
      </p:sp>
      <p:sp>
        <p:nvSpPr>
          <p:cNvPr id="3" name="Freeform 3"/>
          <p:cNvSpPr/>
          <p:nvPr/>
        </p:nvSpPr>
        <p:spPr>
          <a:xfrm>
            <a:off x="0" y="-7453082"/>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1294172" y="2831035"/>
            <a:ext cx="8543480" cy="5193317"/>
          </a:xfrm>
          <a:prstGeom prst="rect">
            <a:avLst/>
          </a:prstGeom>
        </p:spPr>
        <p:txBody>
          <a:bodyPr lIns="0" tIns="0" rIns="0" bIns="0" rtlCol="0" anchor="t">
            <a:spAutoFit/>
          </a:bodyPr>
          <a:lstStyle/>
          <a:p>
            <a:pPr marL="0" lvl="0" indent="0" algn="l">
              <a:lnSpc>
                <a:spcPts val="3177"/>
              </a:lnSpc>
            </a:pPr>
            <a:r>
              <a:rPr lang="en-US" sz="2787">
                <a:solidFill>
                  <a:srgbClr val="047377"/>
                </a:solidFill>
                <a:latin typeface="Koho"/>
                <a:ea typeface="Koho"/>
                <a:cs typeface="Koho"/>
                <a:sym typeface="Koho"/>
              </a:rPr>
              <a:t>Cyber-Physical Security: Combined data network and physical security monitoring creates comprehensive protection infrastructure.</a:t>
            </a:r>
          </a:p>
          <a:p>
            <a:pPr marL="0" lvl="0" indent="0" algn="l">
              <a:lnSpc>
                <a:spcPts val="3177"/>
              </a:lnSpc>
            </a:pPr>
            <a:r>
              <a:rPr lang="en-US" sz="2787">
                <a:solidFill>
                  <a:srgbClr val="047377"/>
                </a:solidFill>
                <a:latin typeface="Koho"/>
                <a:ea typeface="Koho"/>
                <a:cs typeface="Koho"/>
                <a:sym typeface="Koho"/>
              </a:rPr>
              <a:t>Bandwidth Management: Handling high-bandwidth video streams from surveillance cameras without network lag or performance degradation.</a:t>
            </a:r>
          </a:p>
          <a:p>
            <a:pPr marL="0" lvl="0" indent="0" algn="l">
              <a:lnSpc>
                <a:spcPts val="3177"/>
              </a:lnSpc>
            </a:pPr>
            <a:r>
              <a:rPr lang="en-US" sz="2787">
                <a:solidFill>
                  <a:srgbClr val="047377"/>
                </a:solidFill>
                <a:latin typeface="Koho"/>
                <a:ea typeface="Koho"/>
                <a:cs typeface="Koho"/>
                <a:sym typeface="Koho"/>
              </a:rPr>
              <a:t>Realistic Professional Environment: Hands-on experience with enterprise-grade hardware including Hikvision cameras, TP-Link and Mercusys access points.</a:t>
            </a:r>
          </a:p>
          <a:p>
            <a:pPr marL="0" lvl="0" indent="0" algn="l">
              <a:lnSpc>
                <a:spcPts val="3177"/>
              </a:lnSpc>
            </a:pPr>
            <a:r>
              <a:rPr lang="en-US" sz="2787">
                <a:solidFill>
                  <a:srgbClr val="047377"/>
                </a:solidFill>
                <a:latin typeface="Koho"/>
                <a:ea typeface="Koho"/>
                <a:cs typeface="Koho"/>
                <a:sym typeface="Koho"/>
              </a:rPr>
              <a:t>Real Traffic Handling: Practical troubleshooting of actual network traffic patterns, device conflicts, and performance optimization scenarios.</a:t>
            </a:r>
          </a:p>
        </p:txBody>
      </p:sp>
      <p:sp>
        <p:nvSpPr>
          <p:cNvPr id="5" name="Freeform 5"/>
          <p:cNvSpPr/>
          <p:nvPr/>
        </p:nvSpPr>
        <p:spPr>
          <a:xfrm>
            <a:off x="12342579" y="2357942"/>
            <a:ext cx="5553081" cy="5666409"/>
          </a:xfrm>
          <a:custGeom>
            <a:avLst/>
            <a:gdLst/>
            <a:ahLst/>
            <a:cxnLst/>
            <a:rect l="l" t="t" r="r" b="b"/>
            <a:pathLst>
              <a:path w="5553081" h="5666409">
                <a:moveTo>
                  <a:pt x="0" y="0"/>
                </a:moveTo>
                <a:lnTo>
                  <a:pt x="5553081" y="0"/>
                </a:lnTo>
                <a:lnTo>
                  <a:pt x="5553081" y="5666410"/>
                </a:lnTo>
                <a:lnTo>
                  <a:pt x="0" y="5666410"/>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06225"/>
            <a:ext cx="16230600" cy="3677892"/>
            <a:chOff x="0" y="0"/>
            <a:chExt cx="2630653" cy="596112"/>
          </a:xfrm>
        </p:grpSpPr>
        <p:sp>
          <p:nvSpPr>
            <p:cNvPr id="3" name="Freeform 3"/>
            <p:cNvSpPr/>
            <p:nvPr/>
          </p:nvSpPr>
          <p:spPr>
            <a:xfrm>
              <a:off x="0" y="0"/>
              <a:ext cx="2630653" cy="596112"/>
            </a:xfrm>
            <a:custGeom>
              <a:avLst/>
              <a:gdLst/>
              <a:ahLst/>
              <a:cxnLst/>
              <a:rect l="l" t="t" r="r" b="b"/>
              <a:pathLst>
                <a:path w="2630653" h="596112">
                  <a:moveTo>
                    <a:pt x="23850" y="0"/>
                  </a:moveTo>
                  <a:lnTo>
                    <a:pt x="2606803" y="0"/>
                  </a:lnTo>
                  <a:cubicBezTo>
                    <a:pt x="2613128" y="0"/>
                    <a:pt x="2619194" y="2513"/>
                    <a:pt x="2623667" y="6985"/>
                  </a:cubicBezTo>
                  <a:cubicBezTo>
                    <a:pt x="2628140" y="11458"/>
                    <a:pt x="2630653" y="17524"/>
                    <a:pt x="2630653" y="23850"/>
                  </a:cubicBezTo>
                  <a:lnTo>
                    <a:pt x="2630653" y="572262"/>
                  </a:lnTo>
                  <a:cubicBezTo>
                    <a:pt x="2630653" y="585434"/>
                    <a:pt x="2619975" y="596112"/>
                    <a:pt x="2606803" y="596112"/>
                  </a:cubicBezTo>
                  <a:lnTo>
                    <a:pt x="23850" y="596112"/>
                  </a:lnTo>
                  <a:cubicBezTo>
                    <a:pt x="17524" y="596112"/>
                    <a:pt x="11458" y="593599"/>
                    <a:pt x="6985" y="589127"/>
                  </a:cubicBezTo>
                  <a:cubicBezTo>
                    <a:pt x="2513" y="584654"/>
                    <a:pt x="0" y="578588"/>
                    <a:pt x="0" y="572262"/>
                  </a:cubicBezTo>
                  <a:lnTo>
                    <a:pt x="0" y="23850"/>
                  </a:lnTo>
                  <a:cubicBezTo>
                    <a:pt x="0" y="17524"/>
                    <a:pt x="2513" y="11458"/>
                    <a:pt x="6985" y="6985"/>
                  </a:cubicBezTo>
                  <a:cubicBezTo>
                    <a:pt x="11458" y="2513"/>
                    <a:pt x="17524" y="0"/>
                    <a:pt x="23850" y="0"/>
                  </a:cubicBezTo>
                  <a:close/>
                </a:path>
              </a:pathLst>
            </a:custGeom>
            <a:blipFill>
              <a:blip r:embed="rId2"/>
              <a:stretch>
                <a:fillRect t="-75770" b="-75770"/>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86125" y="6407967"/>
            <a:ext cx="5994860" cy="682521"/>
            <a:chOff x="0" y="0"/>
            <a:chExt cx="1578893" cy="179759"/>
          </a:xfrm>
        </p:grpSpPr>
        <p:sp>
          <p:nvSpPr>
            <p:cNvPr id="5" name="Freeform 5"/>
            <p:cNvSpPr/>
            <p:nvPr/>
          </p:nvSpPr>
          <p:spPr>
            <a:xfrm>
              <a:off x="0" y="0"/>
              <a:ext cx="1578893" cy="179759"/>
            </a:xfrm>
            <a:custGeom>
              <a:avLst/>
              <a:gdLst/>
              <a:ahLst/>
              <a:cxnLst/>
              <a:rect l="l" t="t" r="r" b="b"/>
              <a:pathLst>
                <a:path w="1578893" h="179759">
                  <a:moveTo>
                    <a:pt x="89879" y="0"/>
                  </a:moveTo>
                  <a:lnTo>
                    <a:pt x="1489014" y="0"/>
                  </a:lnTo>
                  <a:cubicBezTo>
                    <a:pt x="1538653" y="0"/>
                    <a:pt x="1578893" y="40240"/>
                    <a:pt x="1578893" y="89879"/>
                  </a:cubicBezTo>
                  <a:lnTo>
                    <a:pt x="1578893" y="89879"/>
                  </a:lnTo>
                  <a:cubicBezTo>
                    <a:pt x="1578893" y="113717"/>
                    <a:pt x="1569424" y="136578"/>
                    <a:pt x="1552568" y="153434"/>
                  </a:cubicBezTo>
                  <a:cubicBezTo>
                    <a:pt x="1535712" y="170289"/>
                    <a:pt x="1512851" y="179759"/>
                    <a:pt x="1489014"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578893"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Overcoming Project Obstacles</a:t>
              </a:r>
            </a:p>
          </p:txBody>
        </p:sp>
      </p:grpSp>
      <p:sp>
        <p:nvSpPr>
          <p:cNvPr id="7" name="TextBox 7"/>
          <p:cNvSpPr txBox="1"/>
          <p:nvPr/>
        </p:nvSpPr>
        <p:spPr>
          <a:xfrm>
            <a:off x="2278994" y="1228725"/>
            <a:ext cx="13730012" cy="969990"/>
          </a:xfrm>
          <a:prstGeom prst="rect">
            <a:avLst/>
          </a:prstGeom>
        </p:spPr>
        <p:txBody>
          <a:bodyPr lIns="0" tIns="0" rIns="0" bIns="0" rtlCol="0" anchor="t">
            <a:spAutoFit/>
          </a:bodyPr>
          <a:lstStyle/>
          <a:p>
            <a:pPr marL="0" lvl="0" indent="0" algn="ctr">
              <a:lnSpc>
                <a:spcPts val="7191"/>
              </a:lnSpc>
            </a:pPr>
            <a:r>
              <a:rPr lang="en-US" sz="7732" spc="-170">
                <a:solidFill>
                  <a:srgbClr val="047377"/>
                </a:solidFill>
                <a:latin typeface="Anton"/>
                <a:ea typeface="Anton"/>
                <a:cs typeface="Anton"/>
                <a:sym typeface="Anton"/>
              </a:rPr>
              <a:t>KEY CHALLENGES &amp; SOLUTIONS</a:t>
            </a:r>
          </a:p>
        </p:txBody>
      </p:sp>
      <p:sp>
        <p:nvSpPr>
          <p:cNvPr id="8" name="TextBox 8"/>
          <p:cNvSpPr txBox="1"/>
          <p:nvPr/>
        </p:nvSpPr>
        <p:spPr>
          <a:xfrm>
            <a:off x="1086125" y="7379970"/>
            <a:ext cx="7806257" cy="1249680"/>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47377"/>
                </a:solidFill>
                <a:latin typeface="Inter"/>
                <a:ea typeface="Inter"/>
                <a:cs typeface="Inter"/>
                <a:sym typeface="Inter"/>
              </a:rPr>
              <a:t>Managing Complexity: The multi-VLAN architecture with dual ISP failover required careful planning to avoid configuration conflicts. Solution: Systematic documentation and modular design approach allowed incremental testing of each network segment before full integration.</a:t>
            </a:r>
          </a:p>
        </p:txBody>
      </p:sp>
      <p:sp>
        <p:nvSpPr>
          <p:cNvPr id="9" name="TextBox 9"/>
          <p:cNvSpPr txBox="1"/>
          <p:nvPr/>
        </p:nvSpPr>
        <p:spPr>
          <a:xfrm>
            <a:off x="9453043" y="7379970"/>
            <a:ext cx="7806257" cy="1564005"/>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47377"/>
                </a:solidFill>
                <a:latin typeface="Inter"/>
                <a:ea typeface="Inter"/>
                <a:cs typeface="Inter"/>
                <a:sym typeface="Inter"/>
              </a:rPr>
              <a:t>Hardware-Simulation Sync: Maintaining consistency between Cisco Packet Tracer simulations and physical hardware configurations posed challenges. Solution: Version-controlled configuration files and parallel testing ensured both environments remained synchronized throughout development.</a:t>
            </a:r>
          </a:p>
        </p:txBody>
      </p:sp>
      <p:sp>
        <p:nvSpPr>
          <p:cNvPr id="10" name="Freeform 10"/>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1086125" y="1028700"/>
            <a:ext cx="8547280" cy="8229600"/>
            <a:chOff x="0" y="0"/>
            <a:chExt cx="1385342" cy="1333852"/>
          </a:xfrm>
        </p:grpSpPr>
        <p:sp>
          <p:nvSpPr>
            <p:cNvPr id="3" name="Freeform 3"/>
            <p:cNvSpPr/>
            <p:nvPr/>
          </p:nvSpPr>
          <p:spPr>
            <a:xfrm>
              <a:off x="0" y="0"/>
              <a:ext cx="1385342" cy="1333852"/>
            </a:xfrm>
            <a:custGeom>
              <a:avLst/>
              <a:gdLst/>
              <a:ahLst/>
              <a:cxnLst/>
              <a:rect l="l" t="t" r="r" b="b"/>
              <a:pathLst>
                <a:path w="1385342" h="1333852">
                  <a:moveTo>
                    <a:pt x="45289" y="0"/>
                  </a:moveTo>
                  <a:lnTo>
                    <a:pt x="1340053" y="0"/>
                  </a:lnTo>
                  <a:cubicBezTo>
                    <a:pt x="1352064" y="0"/>
                    <a:pt x="1363583" y="4771"/>
                    <a:pt x="1372077" y="13265"/>
                  </a:cubicBezTo>
                  <a:cubicBezTo>
                    <a:pt x="1380570" y="21758"/>
                    <a:pt x="1385342" y="33277"/>
                    <a:pt x="1385342" y="45289"/>
                  </a:cubicBezTo>
                  <a:lnTo>
                    <a:pt x="1385342" y="1288563"/>
                  </a:lnTo>
                  <a:cubicBezTo>
                    <a:pt x="1385342" y="1300575"/>
                    <a:pt x="1380570" y="1312094"/>
                    <a:pt x="1372077" y="1320587"/>
                  </a:cubicBezTo>
                  <a:cubicBezTo>
                    <a:pt x="1363583" y="1329081"/>
                    <a:pt x="1352064" y="1333852"/>
                    <a:pt x="1340053" y="1333852"/>
                  </a:cubicBezTo>
                  <a:lnTo>
                    <a:pt x="45289" y="1333852"/>
                  </a:lnTo>
                  <a:cubicBezTo>
                    <a:pt x="33277" y="1333852"/>
                    <a:pt x="21758" y="1329081"/>
                    <a:pt x="13265" y="1320587"/>
                  </a:cubicBezTo>
                  <a:cubicBezTo>
                    <a:pt x="4771" y="1312094"/>
                    <a:pt x="0" y="1300575"/>
                    <a:pt x="0" y="1288563"/>
                  </a:cubicBezTo>
                  <a:lnTo>
                    <a:pt x="0" y="45289"/>
                  </a:lnTo>
                  <a:cubicBezTo>
                    <a:pt x="0" y="33277"/>
                    <a:pt x="4771" y="21758"/>
                    <a:pt x="13265" y="13265"/>
                  </a:cubicBezTo>
                  <a:cubicBezTo>
                    <a:pt x="21758" y="4771"/>
                    <a:pt x="33277" y="0"/>
                    <a:pt x="45289" y="0"/>
                  </a:cubicBezTo>
                  <a:close/>
                </a:path>
              </a:pathLst>
            </a:custGeom>
            <a:blipFill>
              <a:blip r:embed="rId2"/>
              <a:stretch>
                <a:fillRect t="-1930" b="-1930"/>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377669" y="5262241"/>
            <a:ext cx="4382454" cy="682521"/>
            <a:chOff x="0" y="0"/>
            <a:chExt cx="1154227" cy="179759"/>
          </a:xfrm>
        </p:grpSpPr>
        <p:sp>
          <p:nvSpPr>
            <p:cNvPr id="5" name="Freeform 5"/>
            <p:cNvSpPr/>
            <p:nvPr/>
          </p:nvSpPr>
          <p:spPr>
            <a:xfrm>
              <a:off x="0" y="0"/>
              <a:ext cx="1154227" cy="179759"/>
            </a:xfrm>
            <a:custGeom>
              <a:avLst/>
              <a:gdLst/>
              <a:ahLst/>
              <a:cxnLst/>
              <a:rect l="l" t="t" r="r" b="b"/>
              <a:pathLst>
                <a:path w="1154227" h="179759">
                  <a:moveTo>
                    <a:pt x="89879" y="0"/>
                  </a:moveTo>
                  <a:lnTo>
                    <a:pt x="1064347" y="0"/>
                  </a:lnTo>
                  <a:cubicBezTo>
                    <a:pt x="1088185" y="0"/>
                    <a:pt x="1111046" y="9469"/>
                    <a:pt x="1127902" y="26325"/>
                  </a:cubicBezTo>
                  <a:cubicBezTo>
                    <a:pt x="1144757" y="43181"/>
                    <a:pt x="1154227" y="66042"/>
                    <a:pt x="1154227" y="89879"/>
                  </a:cubicBezTo>
                  <a:lnTo>
                    <a:pt x="1154227" y="89879"/>
                  </a:lnTo>
                  <a:cubicBezTo>
                    <a:pt x="1154227" y="139518"/>
                    <a:pt x="1113986" y="179759"/>
                    <a:pt x="1064347"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154227"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Bridging Theory &amp; Practice</a:t>
              </a:r>
            </a:p>
          </p:txBody>
        </p:sp>
      </p:grpSp>
      <p:sp>
        <p:nvSpPr>
          <p:cNvPr id="7" name="TextBox 7"/>
          <p:cNvSpPr txBox="1"/>
          <p:nvPr/>
        </p:nvSpPr>
        <p:spPr>
          <a:xfrm>
            <a:off x="10377669" y="1228725"/>
            <a:ext cx="6356199" cy="2799650"/>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EDUCATIONAL VALUE &amp; LEARNING OUTCOMES</a:t>
            </a:r>
          </a:p>
        </p:txBody>
      </p:sp>
      <p:sp>
        <p:nvSpPr>
          <p:cNvPr id="8" name="TextBox 8"/>
          <p:cNvSpPr txBox="1"/>
          <p:nvPr/>
        </p:nvSpPr>
        <p:spPr>
          <a:xfrm>
            <a:off x="10739619" y="6379845"/>
            <a:ext cx="6881631" cy="3229129"/>
          </a:xfrm>
          <a:prstGeom prst="rect">
            <a:avLst/>
          </a:prstGeom>
        </p:spPr>
        <p:txBody>
          <a:bodyPr lIns="0" tIns="0" rIns="0" bIns="0" rtlCol="0" anchor="t">
            <a:spAutoFit/>
          </a:bodyPr>
          <a:lstStyle/>
          <a:p>
            <a:pPr marL="0" lvl="0" indent="0" algn="just">
              <a:lnSpc>
                <a:spcPts val="2616"/>
              </a:lnSpc>
              <a:spcBef>
                <a:spcPct val="0"/>
              </a:spcBef>
            </a:pPr>
            <a:r>
              <a:rPr lang="en-US" sz="1868">
                <a:solidFill>
                  <a:srgbClr val="047377"/>
                </a:solidFill>
                <a:latin typeface="Inter"/>
                <a:ea typeface="Inter"/>
                <a:cs typeface="Inter"/>
                <a:sym typeface="Inter"/>
              </a:rPr>
              <a:t>• Interactive textbook serves as comprehensive learning tool with embedded videos and visual aids</a:t>
            </a:r>
          </a:p>
          <a:p>
            <a:pPr marL="0" lvl="0" indent="0" algn="just">
              <a:lnSpc>
                <a:spcPts val="2616"/>
              </a:lnSpc>
              <a:spcBef>
                <a:spcPct val="0"/>
              </a:spcBef>
            </a:pPr>
            <a:r>
              <a:rPr lang="en-US" sz="1868">
                <a:solidFill>
                  <a:srgbClr val="047377"/>
                </a:solidFill>
                <a:latin typeface="Inter"/>
                <a:ea typeface="Inter"/>
                <a:cs typeface="Inter"/>
                <a:sym typeface="Inter"/>
              </a:rPr>
              <a:t>• Hands-on practice bridges theoretical networking concepts with real lab implementation</a:t>
            </a:r>
          </a:p>
          <a:p>
            <a:pPr marL="0" lvl="0" indent="0" algn="just">
              <a:lnSpc>
                <a:spcPts val="2616"/>
              </a:lnSpc>
              <a:spcBef>
                <a:spcPct val="0"/>
              </a:spcBef>
            </a:pPr>
            <a:r>
              <a:rPr lang="en-US" sz="1868">
                <a:solidFill>
                  <a:srgbClr val="047377"/>
                </a:solidFill>
                <a:latin typeface="Inter"/>
                <a:ea typeface="Inter"/>
                <a:cs typeface="Inter"/>
                <a:sym typeface="Inter"/>
              </a:rPr>
              <a:t>• Exposure to enterprise network design best practices and industry standards</a:t>
            </a:r>
          </a:p>
          <a:p>
            <a:pPr marL="0" lvl="0" indent="0" algn="just">
              <a:lnSpc>
                <a:spcPts val="2616"/>
              </a:lnSpc>
              <a:spcBef>
                <a:spcPct val="0"/>
              </a:spcBef>
            </a:pPr>
            <a:r>
              <a:rPr lang="en-US" sz="1868">
                <a:solidFill>
                  <a:srgbClr val="047377"/>
                </a:solidFill>
                <a:latin typeface="Inter"/>
                <a:ea typeface="Inter"/>
                <a:cs typeface="Inter"/>
                <a:sym typeface="Inter"/>
              </a:rPr>
              <a:t>• Visual learning aids including network diagrams and step-by-step configuration guides</a:t>
            </a:r>
          </a:p>
          <a:p>
            <a:pPr marL="0" lvl="0" indent="0" algn="just">
              <a:lnSpc>
                <a:spcPts val="2616"/>
              </a:lnSpc>
              <a:spcBef>
                <a:spcPct val="0"/>
              </a:spcBef>
            </a:pPr>
            <a:r>
              <a:rPr lang="en-US" sz="1868">
                <a:solidFill>
                  <a:srgbClr val="047377"/>
                </a:solidFill>
                <a:latin typeface="Inter"/>
                <a:ea typeface="Inter"/>
                <a:cs typeface="Inter"/>
                <a:sym typeface="Inter"/>
              </a:rPr>
              <a:t>• Students gain practical experience with Cisco hardware and Packet Tracer simulation</a:t>
            </a:r>
          </a:p>
        </p:txBody>
      </p:sp>
      <p:sp>
        <p:nvSpPr>
          <p:cNvPr id="9" name="Freeform 9"/>
          <p:cNvSpPr/>
          <p:nvPr/>
        </p:nvSpPr>
        <p:spPr>
          <a:xfrm>
            <a:off x="0" y="-8886305"/>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8444631" y="1028700"/>
            <a:ext cx="8814669" cy="8229600"/>
            <a:chOff x="0" y="0"/>
            <a:chExt cx="1428680" cy="1333852"/>
          </a:xfrm>
        </p:grpSpPr>
        <p:sp>
          <p:nvSpPr>
            <p:cNvPr id="3" name="Freeform 3"/>
            <p:cNvSpPr/>
            <p:nvPr/>
          </p:nvSpPr>
          <p:spPr>
            <a:xfrm>
              <a:off x="0" y="0"/>
              <a:ext cx="1428680" cy="1333852"/>
            </a:xfrm>
            <a:custGeom>
              <a:avLst/>
              <a:gdLst/>
              <a:ahLst/>
              <a:cxnLst/>
              <a:rect l="l" t="t" r="r" b="b"/>
              <a:pathLst>
                <a:path w="1428680" h="1333852">
                  <a:moveTo>
                    <a:pt x="43915" y="0"/>
                  </a:moveTo>
                  <a:lnTo>
                    <a:pt x="1384765" y="0"/>
                  </a:lnTo>
                  <a:cubicBezTo>
                    <a:pt x="1396412" y="0"/>
                    <a:pt x="1407582" y="4627"/>
                    <a:pt x="1415818" y="12862"/>
                  </a:cubicBezTo>
                  <a:cubicBezTo>
                    <a:pt x="1424053" y="21098"/>
                    <a:pt x="1428680" y="32268"/>
                    <a:pt x="1428680" y="43915"/>
                  </a:cubicBezTo>
                  <a:lnTo>
                    <a:pt x="1428680" y="1289937"/>
                  </a:lnTo>
                  <a:cubicBezTo>
                    <a:pt x="1428680" y="1314191"/>
                    <a:pt x="1409019" y="1333852"/>
                    <a:pt x="1384765" y="1333852"/>
                  </a:cubicBezTo>
                  <a:lnTo>
                    <a:pt x="43915" y="1333852"/>
                  </a:lnTo>
                  <a:cubicBezTo>
                    <a:pt x="19661" y="1333852"/>
                    <a:pt x="0" y="1314191"/>
                    <a:pt x="0" y="1289937"/>
                  </a:cubicBezTo>
                  <a:lnTo>
                    <a:pt x="0" y="43915"/>
                  </a:lnTo>
                  <a:cubicBezTo>
                    <a:pt x="0" y="19661"/>
                    <a:pt x="19661" y="0"/>
                    <a:pt x="43915" y="0"/>
                  </a:cubicBezTo>
                  <a:close/>
                </a:path>
              </a:pathLst>
            </a:custGeom>
            <a:blipFill>
              <a:blip r:embed="rId2"/>
              <a:stretch>
                <a:fillRect t="-3554" b="-3554"/>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86125" y="6093642"/>
            <a:ext cx="6356199" cy="682521"/>
            <a:chOff x="0" y="0"/>
            <a:chExt cx="1674061" cy="179759"/>
          </a:xfrm>
        </p:grpSpPr>
        <p:sp>
          <p:nvSpPr>
            <p:cNvPr id="5" name="Freeform 5"/>
            <p:cNvSpPr/>
            <p:nvPr/>
          </p:nvSpPr>
          <p:spPr>
            <a:xfrm>
              <a:off x="0" y="0"/>
              <a:ext cx="1674061" cy="179759"/>
            </a:xfrm>
            <a:custGeom>
              <a:avLst/>
              <a:gdLst/>
              <a:ahLst/>
              <a:cxnLst/>
              <a:rect l="l" t="t" r="r" b="b"/>
              <a:pathLst>
                <a:path w="1674061" h="179759">
                  <a:moveTo>
                    <a:pt x="89879" y="0"/>
                  </a:moveTo>
                  <a:lnTo>
                    <a:pt x="1584182" y="0"/>
                  </a:lnTo>
                  <a:cubicBezTo>
                    <a:pt x="1608019" y="0"/>
                    <a:pt x="1630880" y="9469"/>
                    <a:pt x="1647736" y="26325"/>
                  </a:cubicBezTo>
                  <a:cubicBezTo>
                    <a:pt x="1664591" y="43181"/>
                    <a:pt x="1674061" y="66042"/>
                    <a:pt x="1674061" y="89879"/>
                  </a:cubicBezTo>
                  <a:lnTo>
                    <a:pt x="1674061" y="89879"/>
                  </a:lnTo>
                  <a:cubicBezTo>
                    <a:pt x="1674061" y="139518"/>
                    <a:pt x="1633820" y="179759"/>
                    <a:pt x="1584182"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674061" cy="227384"/>
            </a:xfrm>
            <a:prstGeom prst="rect">
              <a:avLst/>
            </a:prstGeom>
          </p:spPr>
          <p:txBody>
            <a:bodyPr lIns="50800" tIns="50800" rIns="50800" bIns="50800" rtlCol="0" anchor="ctr"/>
            <a:lstStyle/>
            <a:p>
              <a:pPr marL="0" lvl="0" indent="0" algn="ctr">
                <a:lnSpc>
                  <a:spcPts val="3359"/>
                </a:lnSpc>
              </a:pPr>
              <a:r>
                <a:rPr lang="en-US" sz="2399">
                  <a:solidFill>
                    <a:srgbClr val="CAF9FF"/>
                  </a:solidFill>
                  <a:latin typeface="Inter"/>
                  <a:ea typeface="Inter"/>
                  <a:cs typeface="Inter"/>
                  <a:sym typeface="Inter"/>
                </a:rPr>
                <a:t>Key Milestones &amp; Accomplishments</a:t>
              </a:r>
            </a:p>
          </p:txBody>
        </p:sp>
      </p:grpSp>
      <p:sp>
        <p:nvSpPr>
          <p:cNvPr id="7" name="TextBox 7"/>
          <p:cNvSpPr txBox="1"/>
          <p:nvPr/>
        </p:nvSpPr>
        <p:spPr>
          <a:xfrm>
            <a:off x="1086125" y="1228725"/>
            <a:ext cx="6356199" cy="2799650"/>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PROJECT ACHIEVEMENTS SUMMARY</a:t>
            </a:r>
          </a:p>
        </p:txBody>
      </p:sp>
      <p:sp>
        <p:nvSpPr>
          <p:cNvPr id="8" name="TextBox 8"/>
          <p:cNvSpPr txBox="1"/>
          <p:nvPr/>
        </p:nvSpPr>
        <p:spPr>
          <a:xfrm>
            <a:off x="1086125" y="7075170"/>
            <a:ext cx="6906023" cy="2198670"/>
          </a:xfrm>
          <a:prstGeom prst="rect">
            <a:avLst/>
          </a:prstGeom>
        </p:spPr>
        <p:txBody>
          <a:bodyPr lIns="0" tIns="0" rIns="0" bIns="0" rtlCol="0" anchor="t">
            <a:spAutoFit/>
          </a:bodyPr>
          <a:lstStyle/>
          <a:p>
            <a:pPr marL="0" lvl="0" indent="0" algn="just">
              <a:lnSpc>
                <a:spcPts val="2188"/>
              </a:lnSpc>
              <a:spcBef>
                <a:spcPct val="0"/>
              </a:spcBef>
            </a:pPr>
            <a:r>
              <a:rPr lang="en-US" sz="1563">
                <a:solidFill>
                  <a:srgbClr val="047377"/>
                </a:solidFill>
                <a:latin typeface="Inter"/>
                <a:ea typeface="Inter"/>
                <a:cs typeface="Inter"/>
                <a:sym typeface="Inter"/>
              </a:rPr>
              <a:t>✓ Fully functional secure enterprise network simulation completed in Cisco Packet Tracer with 100+ devices across 6 departments</a:t>
            </a:r>
          </a:p>
          <a:p>
            <a:pPr marL="0" lvl="0" indent="0" algn="just">
              <a:lnSpc>
                <a:spcPts val="2188"/>
              </a:lnSpc>
              <a:spcBef>
                <a:spcPct val="0"/>
              </a:spcBef>
            </a:pPr>
            <a:r>
              <a:rPr lang="en-US" sz="1563">
                <a:solidFill>
                  <a:srgbClr val="047377"/>
                </a:solidFill>
                <a:latin typeface="Inter"/>
                <a:ea typeface="Inter"/>
                <a:cs typeface="Inter"/>
                <a:sym typeface="Inter"/>
              </a:rPr>
              <a:t>✓ Real hardware implementation successfully validated the theoretical design using Cisco routers and switches</a:t>
            </a:r>
          </a:p>
          <a:p>
            <a:pPr marL="0" lvl="0" indent="0" algn="just">
              <a:lnSpc>
                <a:spcPts val="2188"/>
              </a:lnSpc>
              <a:spcBef>
                <a:spcPct val="0"/>
              </a:spcBef>
            </a:pPr>
            <a:r>
              <a:rPr lang="en-US" sz="1563">
                <a:solidFill>
                  <a:srgbClr val="047377"/>
                </a:solidFill>
                <a:latin typeface="Inter"/>
                <a:ea typeface="Inter"/>
                <a:cs typeface="Inter"/>
                <a:sym typeface="Inter"/>
              </a:rPr>
              <a:t>✓ Interactive educational textbook created with visual learning aids and step-by-step configuration guides</a:t>
            </a:r>
          </a:p>
          <a:p>
            <a:pPr marL="0" lvl="0" indent="0" algn="just">
              <a:lnSpc>
                <a:spcPts val="2188"/>
              </a:lnSpc>
              <a:spcBef>
                <a:spcPct val="0"/>
              </a:spcBef>
            </a:pPr>
            <a:r>
              <a:rPr lang="en-US" sz="1563">
                <a:solidFill>
                  <a:srgbClr val="047377"/>
                </a:solidFill>
                <a:latin typeface="Inter"/>
                <a:ea typeface="Inter"/>
                <a:cs typeface="Inter"/>
                <a:sym typeface="Inter"/>
              </a:rPr>
              <a:t>✓ Successful integration of multiple technologies: VoIP telephony, wireless infrastructure, and comprehensive security measures</a:t>
            </a:r>
          </a:p>
        </p:txBody>
      </p:sp>
      <p:sp>
        <p:nvSpPr>
          <p:cNvPr id="9" name="Freeform 9"/>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8444631" y="1028700"/>
            <a:ext cx="8814669" cy="8229600"/>
            <a:chOff x="0" y="0"/>
            <a:chExt cx="1428680" cy="1333852"/>
          </a:xfrm>
        </p:grpSpPr>
        <p:sp>
          <p:nvSpPr>
            <p:cNvPr id="3" name="Freeform 3"/>
            <p:cNvSpPr/>
            <p:nvPr/>
          </p:nvSpPr>
          <p:spPr>
            <a:xfrm>
              <a:off x="0" y="0"/>
              <a:ext cx="1428680" cy="1333852"/>
            </a:xfrm>
            <a:custGeom>
              <a:avLst/>
              <a:gdLst/>
              <a:ahLst/>
              <a:cxnLst/>
              <a:rect l="l" t="t" r="r" b="b"/>
              <a:pathLst>
                <a:path w="1428680" h="1333852">
                  <a:moveTo>
                    <a:pt x="43915" y="0"/>
                  </a:moveTo>
                  <a:lnTo>
                    <a:pt x="1384765" y="0"/>
                  </a:lnTo>
                  <a:cubicBezTo>
                    <a:pt x="1396412" y="0"/>
                    <a:pt x="1407582" y="4627"/>
                    <a:pt x="1415818" y="12862"/>
                  </a:cubicBezTo>
                  <a:cubicBezTo>
                    <a:pt x="1424053" y="21098"/>
                    <a:pt x="1428680" y="32268"/>
                    <a:pt x="1428680" y="43915"/>
                  </a:cubicBezTo>
                  <a:lnTo>
                    <a:pt x="1428680" y="1289937"/>
                  </a:lnTo>
                  <a:cubicBezTo>
                    <a:pt x="1428680" y="1314191"/>
                    <a:pt x="1409019" y="1333852"/>
                    <a:pt x="1384765" y="1333852"/>
                  </a:cubicBezTo>
                  <a:lnTo>
                    <a:pt x="43915" y="1333852"/>
                  </a:lnTo>
                  <a:cubicBezTo>
                    <a:pt x="19661" y="1333852"/>
                    <a:pt x="0" y="1314191"/>
                    <a:pt x="0" y="1289937"/>
                  </a:cubicBezTo>
                  <a:lnTo>
                    <a:pt x="0" y="43915"/>
                  </a:lnTo>
                  <a:cubicBezTo>
                    <a:pt x="0" y="19661"/>
                    <a:pt x="19661" y="0"/>
                    <a:pt x="43915" y="0"/>
                  </a:cubicBezTo>
                  <a:close/>
                </a:path>
              </a:pathLst>
            </a:custGeom>
            <a:blipFill>
              <a:blip r:embed="rId2"/>
              <a:stretch>
                <a:fillRect t="-3554" b="-3554"/>
              </a:stretch>
            </a:blipFill>
            <a:ln w="38100" cap="rnd">
              <a:solidFill>
                <a:srgbClr val="047377"/>
              </a:solidFill>
              <a:prstDash val="solid"/>
              <a:round/>
            </a:ln>
          </p:spPr>
          <p:txBody>
            <a:bodyPr/>
            <a:lstStyle/>
            <a:p>
              <a:endParaRPr lang="en-US"/>
            </a:p>
          </p:txBody>
        </p:sp>
      </p:grpSp>
      <p:grpSp>
        <p:nvGrpSpPr>
          <p:cNvPr id="4" name="Group 4"/>
          <p:cNvGrpSpPr/>
          <p:nvPr/>
        </p:nvGrpSpPr>
        <p:grpSpPr>
          <a:xfrm>
            <a:off x="1086125" y="6093642"/>
            <a:ext cx="6125595" cy="682521"/>
            <a:chOff x="0" y="0"/>
            <a:chExt cx="1613325" cy="179759"/>
          </a:xfrm>
        </p:grpSpPr>
        <p:sp>
          <p:nvSpPr>
            <p:cNvPr id="5" name="Freeform 5"/>
            <p:cNvSpPr/>
            <p:nvPr/>
          </p:nvSpPr>
          <p:spPr>
            <a:xfrm>
              <a:off x="0" y="0"/>
              <a:ext cx="1613325" cy="179759"/>
            </a:xfrm>
            <a:custGeom>
              <a:avLst/>
              <a:gdLst/>
              <a:ahLst/>
              <a:cxnLst/>
              <a:rect l="l" t="t" r="r" b="b"/>
              <a:pathLst>
                <a:path w="1613325" h="179759">
                  <a:moveTo>
                    <a:pt x="89879" y="0"/>
                  </a:moveTo>
                  <a:lnTo>
                    <a:pt x="1523446" y="0"/>
                  </a:lnTo>
                  <a:cubicBezTo>
                    <a:pt x="1547284" y="0"/>
                    <a:pt x="1570145" y="9469"/>
                    <a:pt x="1587000" y="26325"/>
                  </a:cubicBezTo>
                  <a:cubicBezTo>
                    <a:pt x="1603856" y="43181"/>
                    <a:pt x="1613325" y="66042"/>
                    <a:pt x="1613325" y="89879"/>
                  </a:cubicBezTo>
                  <a:lnTo>
                    <a:pt x="1613325" y="89879"/>
                  </a:lnTo>
                  <a:cubicBezTo>
                    <a:pt x="1613325" y="139518"/>
                    <a:pt x="1573085" y="179759"/>
                    <a:pt x="1523446" y="179759"/>
                  </a:cubicBezTo>
                  <a:lnTo>
                    <a:pt x="89879" y="179759"/>
                  </a:lnTo>
                  <a:cubicBezTo>
                    <a:pt x="66042" y="179759"/>
                    <a:pt x="43181" y="170289"/>
                    <a:pt x="26325" y="153434"/>
                  </a:cubicBezTo>
                  <a:cubicBezTo>
                    <a:pt x="9469" y="136578"/>
                    <a:pt x="0" y="113717"/>
                    <a:pt x="0" y="89879"/>
                  </a:cubicBezTo>
                  <a:lnTo>
                    <a:pt x="0" y="89879"/>
                  </a:lnTo>
                  <a:cubicBezTo>
                    <a:pt x="0" y="66042"/>
                    <a:pt x="9469" y="43181"/>
                    <a:pt x="26325" y="26325"/>
                  </a:cubicBezTo>
                  <a:cubicBezTo>
                    <a:pt x="43181" y="9469"/>
                    <a:pt x="66042" y="0"/>
                    <a:pt x="89879" y="0"/>
                  </a:cubicBezTo>
                  <a:close/>
                </a:path>
              </a:pathLst>
            </a:custGeom>
            <a:solidFill>
              <a:srgbClr val="047377"/>
            </a:solidFill>
          </p:spPr>
          <p:txBody>
            <a:bodyPr/>
            <a:lstStyle/>
            <a:p>
              <a:endParaRPr lang="en-US"/>
            </a:p>
          </p:txBody>
        </p:sp>
        <p:sp>
          <p:nvSpPr>
            <p:cNvPr id="6" name="TextBox 6"/>
            <p:cNvSpPr txBox="1"/>
            <p:nvPr/>
          </p:nvSpPr>
          <p:spPr>
            <a:xfrm>
              <a:off x="0" y="-47625"/>
              <a:ext cx="1613325" cy="227384"/>
            </a:xfrm>
            <a:prstGeom prst="rect">
              <a:avLst/>
            </a:prstGeom>
          </p:spPr>
          <p:txBody>
            <a:bodyPr lIns="50800" tIns="50800" rIns="50800" bIns="50800" rtlCol="0" anchor="ctr"/>
            <a:lstStyle/>
            <a:p>
              <a:pPr marL="0" lvl="0" indent="0" algn="ctr">
                <a:lnSpc>
                  <a:spcPts val="3359"/>
                </a:lnSpc>
                <a:spcBef>
                  <a:spcPct val="0"/>
                </a:spcBef>
              </a:pPr>
              <a:r>
                <a:rPr lang="en-US" sz="2399">
                  <a:solidFill>
                    <a:srgbClr val="CAF9FF"/>
                  </a:solidFill>
                  <a:latin typeface="Inter"/>
                  <a:ea typeface="Inter"/>
                  <a:cs typeface="Inter"/>
                  <a:sym typeface="Inter"/>
                </a:rPr>
                <a:t>Roadmap for Project Enhancement</a:t>
              </a:r>
            </a:p>
          </p:txBody>
        </p:sp>
      </p:grpSp>
      <p:sp>
        <p:nvSpPr>
          <p:cNvPr id="7" name="TextBox 7"/>
          <p:cNvSpPr txBox="1"/>
          <p:nvPr/>
        </p:nvSpPr>
        <p:spPr>
          <a:xfrm>
            <a:off x="1086125" y="1228725"/>
            <a:ext cx="7358506" cy="1888077"/>
          </a:xfrm>
          <a:prstGeom prst="rect">
            <a:avLst/>
          </a:prstGeom>
        </p:spPr>
        <p:txBody>
          <a:bodyPr lIns="0" tIns="0" rIns="0" bIns="0" rtlCol="0" anchor="t">
            <a:spAutoFit/>
          </a:bodyPr>
          <a:lstStyle/>
          <a:p>
            <a:pPr marL="0" lvl="0" indent="0" algn="l">
              <a:lnSpc>
                <a:spcPts val="7185"/>
              </a:lnSpc>
            </a:pPr>
            <a:r>
              <a:rPr lang="en-US" sz="7726" spc="-169">
                <a:solidFill>
                  <a:srgbClr val="047377"/>
                </a:solidFill>
                <a:latin typeface="Anton"/>
                <a:ea typeface="Anton"/>
                <a:cs typeface="Anton"/>
                <a:sym typeface="Anton"/>
              </a:rPr>
              <a:t>FUTURE WORK &amp; IMPROVEMENTS</a:t>
            </a:r>
          </a:p>
        </p:txBody>
      </p:sp>
      <p:sp>
        <p:nvSpPr>
          <p:cNvPr id="8" name="TextBox 8"/>
          <p:cNvSpPr txBox="1"/>
          <p:nvPr/>
        </p:nvSpPr>
        <p:spPr>
          <a:xfrm>
            <a:off x="1086125" y="7075170"/>
            <a:ext cx="6906023" cy="2198670"/>
          </a:xfrm>
          <a:prstGeom prst="rect">
            <a:avLst/>
          </a:prstGeom>
        </p:spPr>
        <p:txBody>
          <a:bodyPr lIns="0" tIns="0" rIns="0" bIns="0" rtlCol="0" anchor="t">
            <a:spAutoFit/>
          </a:bodyPr>
          <a:lstStyle/>
          <a:p>
            <a:pPr marL="0" lvl="0" indent="0" algn="just">
              <a:lnSpc>
                <a:spcPts val="2188"/>
              </a:lnSpc>
              <a:spcBef>
                <a:spcPct val="0"/>
              </a:spcBef>
            </a:pPr>
            <a:r>
              <a:rPr lang="en-US" sz="1563">
                <a:solidFill>
                  <a:srgbClr val="047377"/>
                </a:solidFill>
                <a:latin typeface="Inter"/>
                <a:ea typeface="Inter"/>
                <a:cs typeface="Inter"/>
                <a:sym typeface="Inter"/>
              </a:rPr>
              <a:t>• Expand interactive textbook with advanced networking scenarios including SD-WAN and network automation</a:t>
            </a:r>
          </a:p>
          <a:p>
            <a:pPr marL="0" lvl="0" indent="0" algn="just">
              <a:lnSpc>
                <a:spcPts val="2188"/>
              </a:lnSpc>
              <a:spcBef>
                <a:spcPct val="0"/>
              </a:spcBef>
            </a:pPr>
            <a:r>
              <a:rPr lang="en-US" sz="1563">
                <a:solidFill>
                  <a:srgbClr val="047377"/>
                </a:solidFill>
                <a:latin typeface="Inter"/>
                <a:ea typeface="Inter"/>
                <a:cs typeface="Inter"/>
                <a:sym typeface="Inter"/>
              </a:rPr>
              <a:t>• Integrate cloud services simulation (AWS, Azure) for hybrid network architectures</a:t>
            </a:r>
          </a:p>
          <a:p>
            <a:pPr marL="0" lvl="0" indent="0" algn="just">
              <a:lnSpc>
                <a:spcPts val="2188"/>
              </a:lnSpc>
              <a:spcBef>
                <a:spcPct val="0"/>
              </a:spcBef>
            </a:pPr>
            <a:r>
              <a:rPr lang="en-US" sz="1563">
                <a:solidFill>
                  <a:srgbClr val="047377"/>
                </a:solidFill>
                <a:latin typeface="Inter"/>
                <a:ea typeface="Inter"/>
                <a:cs typeface="Inter"/>
                <a:sym typeface="Inter"/>
              </a:rPr>
              <a:t>• Automate configuration deployment using Python scripts and Ansible playbooks</a:t>
            </a:r>
          </a:p>
          <a:p>
            <a:pPr marL="0" lvl="0" indent="0" algn="just">
              <a:lnSpc>
                <a:spcPts val="2188"/>
              </a:lnSpc>
              <a:spcBef>
                <a:spcPct val="0"/>
              </a:spcBef>
            </a:pPr>
            <a:r>
              <a:rPr lang="en-US" sz="1563">
                <a:solidFill>
                  <a:srgbClr val="047377"/>
                </a:solidFill>
                <a:latin typeface="Inter"/>
                <a:ea typeface="Inter"/>
                <a:cs typeface="Inter"/>
                <a:sym typeface="Inter"/>
              </a:rPr>
              <a:t>• Enhance wireless infrastructure coverage with additional access points and mesh networking</a:t>
            </a:r>
          </a:p>
        </p:txBody>
      </p:sp>
      <p:sp>
        <p:nvSpPr>
          <p:cNvPr id="9" name="Freeform 9"/>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CAF9FF"/>
        </a:solidFill>
        <a:effectLst/>
      </p:bgPr>
    </p:bg>
    <p:spTree>
      <p:nvGrpSpPr>
        <p:cNvPr id="1" name=""/>
        <p:cNvGrpSpPr/>
        <p:nvPr/>
      </p:nvGrpSpPr>
      <p:grpSpPr>
        <a:xfrm>
          <a:off x="0" y="0"/>
          <a:ext cx="0" cy="0"/>
          <a:chOff x="0" y="0"/>
          <a:chExt cx="0" cy="0"/>
        </a:xfrm>
      </p:grpSpPr>
      <p:grpSp>
        <p:nvGrpSpPr>
          <p:cNvPr id="2" name="Group 2"/>
          <p:cNvGrpSpPr/>
          <p:nvPr/>
        </p:nvGrpSpPr>
        <p:grpSpPr>
          <a:xfrm>
            <a:off x="8738003" y="1028700"/>
            <a:ext cx="8521297" cy="8229600"/>
            <a:chOff x="0" y="0"/>
            <a:chExt cx="1381130" cy="1333852"/>
          </a:xfrm>
        </p:grpSpPr>
        <p:sp>
          <p:nvSpPr>
            <p:cNvPr id="3" name="Freeform 3"/>
            <p:cNvSpPr/>
            <p:nvPr/>
          </p:nvSpPr>
          <p:spPr>
            <a:xfrm>
              <a:off x="0" y="0"/>
              <a:ext cx="1381130" cy="1333852"/>
            </a:xfrm>
            <a:custGeom>
              <a:avLst/>
              <a:gdLst/>
              <a:ahLst/>
              <a:cxnLst/>
              <a:rect l="l" t="t" r="r" b="b"/>
              <a:pathLst>
                <a:path w="1381130" h="1333852">
                  <a:moveTo>
                    <a:pt x="45427" y="0"/>
                  </a:moveTo>
                  <a:lnTo>
                    <a:pt x="1335703" y="0"/>
                  </a:lnTo>
                  <a:cubicBezTo>
                    <a:pt x="1347751" y="0"/>
                    <a:pt x="1359306" y="4786"/>
                    <a:pt x="1367825" y="13305"/>
                  </a:cubicBezTo>
                  <a:cubicBezTo>
                    <a:pt x="1376344" y="21824"/>
                    <a:pt x="1381130" y="33379"/>
                    <a:pt x="1381130" y="45427"/>
                  </a:cubicBezTo>
                  <a:lnTo>
                    <a:pt x="1381130" y="1288425"/>
                  </a:lnTo>
                  <a:cubicBezTo>
                    <a:pt x="1381130" y="1313514"/>
                    <a:pt x="1360792" y="1333852"/>
                    <a:pt x="1335703" y="1333852"/>
                  </a:cubicBezTo>
                  <a:lnTo>
                    <a:pt x="45427" y="1333852"/>
                  </a:lnTo>
                  <a:cubicBezTo>
                    <a:pt x="33379" y="1333852"/>
                    <a:pt x="21824" y="1329066"/>
                    <a:pt x="13305" y="1320547"/>
                  </a:cubicBezTo>
                  <a:cubicBezTo>
                    <a:pt x="4786" y="1312028"/>
                    <a:pt x="0" y="1300473"/>
                    <a:pt x="0" y="1288425"/>
                  </a:cubicBezTo>
                  <a:lnTo>
                    <a:pt x="0" y="45427"/>
                  </a:lnTo>
                  <a:cubicBezTo>
                    <a:pt x="0" y="33379"/>
                    <a:pt x="4786" y="21824"/>
                    <a:pt x="13305" y="13305"/>
                  </a:cubicBezTo>
                  <a:cubicBezTo>
                    <a:pt x="21824" y="4786"/>
                    <a:pt x="33379" y="0"/>
                    <a:pt x="45427" y="0"/>
                  </a:cubicBezTo>
                  <a:close/>
                </a:path>
              </a:pathLst>
            </a:custGeom>
            <a:blipFill>
              <a:blip r:embed="rId2"/>
              <a:stretch>
                <a:fillRect l="-22477" r="-22477"/>
              </a:stretch>
            </a:blipFill>
            <a:ln w="38100" cap="rnd">
              <a:solidFill>
                <a:srgbClr val="047377"/>
              </a:solidFill>
              <a:prstDash val="solid"/>
              <a:round/>
            </a:ln>
          </p:spPr>
          <p:txBody>
            <a:bodyPr/>
            <a:lstStyle/>
            <a:p>
              <a:endParaRPr lang="en-US"/>
            </a:p>
          </p:txBody>
        </p:sp>
      </p:grpSp>
      <p:grpSp>
        <p:nvGrpSpPr>
          <p:cNvPr id="4" name="Group 4"/>
          <p:cNvGrpSpPr/>
          <p:nvPr/>
        </p:nvGrpSpPr>
        <p:grpSpPr>
          <a:xfrm>
            <a:off x="1724321" y="1028700"/>
            <a:ext cx="2496489" cy="621657"/>
            <a:chOff x="0" y="0"/>
            <a:chExt cx="657512" cy="163729"/>
          </a:xfrm>
        </p:grpSpPr>
        <p:sp>
          <p:nvSpPr>
            <p:cNvPr id="5" name="Freeform 5"/>
            <p:cNvSpPr/>
            <p:nvPr/>
          </p:nvSpPr>
          <p:spPr>
            <a:xfrm>
              <a:off x="0" y="0"/>
              <a:ext cx="657512" cy="163729"/>
            </a:xfrm>
            <a:custGeom>
              <a:avLst/>
              <a:gdLst/>
              <a:ahLst/>
              <a:cxnLst/>
              <a:rect l="l" t="t" r="r" b="b"/>
              <a:pathLst>
                <a:path w="657512" h="163729">
                  <a:moveTo>
                    <a:pt x="81864" y="0"/>
                  </a:moveTo>
                  <a:lnTo>
                    <a:pt x="575647" y="0"/>
                  </a:lnTo>
                  <a:cubicBezTo>
                    <a:pt x="620860" y="0"/>
                    <a:pt x="657512" y="36652"/>
                    <a:pt x="657512" y="81864"/>
                  </a:cubicBezTo>
                  <a:lnTo>
                    <a:pt x="657512" y="81864"/>
                  </a:lnTo>
                  <a:cubicBezTo>
                    <a:pt x="657512" y="127077"/>
                    <a:pt x="620860" y="163729"/>
                    <a:pt x="575647" y="163729"/>
                  </a:cubicBezTo>
                  <a:lnTo>
                    <a:pt x="81864" y="163729"/>
                  </a:lnTo>
                  <a:cubicBezTo>
                    <a:pt x="36652" y="163729"/>
                    <a:pt x="0" y="127077"/>
                    <a:pt x="0" y="81864"/>
                  </a:cubicBezTo>
                  <a:lnTo>
                    <a:pt x="0" y="81864"/>
                  </a:lnTo>
                  <a:cubicBezTo>
                    <a:pt x="0" y="36652"/>
                    <a:pt x="36652" y="0"/>
                    <a:pt x="81864" y="0"/>
                  </a:cubicBezTo>
                  <a:close/>
                </a:path>
              </a:pathLst>
            </a:custGeom>
            <a:solidFill>
              <a:srgbClr val="047377"/>
            </a:solidFill>
          </p:spPr>
          <p:txBody>
            <a:bodyPr/>
            <a:lstStyle/>
            <a:p>
              <a:endParaRPr lang="en-US"/>
            </a:p>
          </p:txBody>
        </p:sp>
        <p:sp>
          <p:nvSpPr>
            <p:cNvPr id="6" name="TextBox 6"/>
            <p:cNvSpPr txBox="1"/>
            <p:nvPr/>
          </p:nvSpPr>
          <p:spPr>
            <a:xfrm>
              <a:off x="0" y="-38100"/>
              <a:ext cx="657512" cy="201829"/>
            </a:xfrm>
            <a:prstGeom prst="rect">
              <a:avLst/>
            </a:prstGeom>
          </p:spPr>
          <p:txBody>
            <a:bodyPr lIns="50800" tIns="50800" rIns="50800" bIns="50800" rtlCol="0" anchor="ctr"/>
            <a:lstStyle/>
            <a:p>
              <a:pPr marL="0" lvl="0" indent="0" algn="ctr">
                <a:lnSpc>
                  <a:spcPts val="3079"/>
                </a:lnSpc>
                <a:spcBef>
                  <a:spcPct val="0"/>
                </a:spcBef>
              </a:pPr>
              <a:r>
                <a:rPr lang="en-US" sz="2199">
                  <a:solidFill>
                    <a:srgbClr val="CAF9FF"/>
                  </a:solidFill>
                  <a:latin typeface="Inter"/>
                  <a:ea typeface="Inter"/>
                  <a:cs typeface="Inter"/>
                  <a:sym typeface="Inter"/>
                </a:rPr>
                <a:t>SON Project</a:t>
              </a:r>
            </a:p>
          </p:txBody>
        </p:sp>
      </p:grpSp>
      <p:grpSp>
        <p:nvGrpSpPr>
          <p:cNvPr id="7" name="Group 7"/>
          <p:cNvGrpSpPr/>
          <p:nvPr/>
        </p:nvGrpSpPr>
        <p:grpSpPr>
          <a:xfrm>
            <a:off x="1028700" y="1028700"/>
            <a:ext cx="619702" cy="621657"/>
            <a:chOff x="0" y="0"/>
            <a:chExt cx="163214" cy="163729"/>
          </a:xfrm>
        </p:grpSpPr>
        <p:sp>
          <p:nvSpPr>
            <p:cNvPr id="8" name="Freeform 8"/>
            <p:cNvSpPr/>
            <p:nvPr/>
          </p:nvSpPr>
          <p:spPr>
            <a:xfrm>
              <a:off x="0" y="0"/>
              <a:ext cx="163214" cy="163729"/>
            </a:xfrm>
            <a:custGeom>
              <a:avLst/>
              <a:gdLst/>
              <a:ahLst/>
              <a:cxnLst/>
              <a:rect l="l" t="t" r="r" b="b"/>
              <a:pathLst>
                <a:path w="163214" h="163729">
                  <a:moveTo>
                    <a:pt x="81607" y="0"/>
                  </a:moveTo>
                  <a:lnTo>
                    <a:pt x="81607" y="0"/>
                  </a:lnTo>
                  <a:cubicBezTo>
                    <a:pt x="103250" y="0"/>
                    <a:pt x="124007" y="8598"/>
                    <a:pt x="139312" y="23902"/>
                  </a:cubicBezTo>
                  <a:cubicBezTo>
                    <a:pt x="154616" y="39206"/>
                    <a:pt x="163214" y="59963"/>
                    <a:pt x="163214" y="81607"/>
                  </a:cubicBezTo>
                  <a:lnTo>
                    <a:pt x="163214" y="82122"/>
                  </a:lnTo>
                  <a:cubicBezTo>
                    <a:pt x="163214" y="127192"/>
                    <a:pt x="126677" y="163729"/>
                    <a:pt x="81607" y="163729"/>
                  </a:cubicBezTo>
                  <a:lnTo>
                    <a:pt x="81607" y="163729"/>
                  </a:lnTo>
                  <a:cubicBezTo>
                    <a:pt x="36537" y="163729"/>
                    <a:pt x="0" y="127192"/>
                    <a:pt x="0" y="82122"/>
                  </a:cubicBezTo>
                  <a:lnTo>
                    <a:pt x="0" y="81607"/>
                  </a:lnTo>
                  <a:cubicBezTo>
                    <a:pt x="0" y="36537"/>
                    <a:pt x="36537" y="0"/>
                    <a:pt x="81607" y="0"/>
                  </a:cubicBezTo>
                  <a:close/>
                </a:path>
              </a:pathLst>
            </a:custGeom>
            <a:solidFill>
              <a:srgbClr val="047377"/>
            </a:solidFill>
          </p:spPr>
          <p:txBody>
            <a:bodyPr/>
            <a:lstStyle/>
            <a:p>
              <a:endParaRPr lang="en-US"/>
            </a:p>
          </p:txBody>
        </p:sp>
        <p:sp>
          <p:nvSpPr>
            <p:cNvPr id="9" name="TextBox 9"/>
            <p:cNvSpPr txBox="1"/>
            <p:nvPr/>
          </p:nvSpPr>
          <p:spPr>
            <a:xfrm>
              <a:off x="0" y="-38100"/>
              <a:ext cx="163214" cy="201829"/>
            </a:xfrm>
            <a:prstGeom prst="rect">
              <a:avLst/>
            </a:prstGeom>
          </p:spPr>
          <p:txBody>
            <a:bodyPr lIns="50800" tIns="50800" rIns="50800" bIns="50800" rtlCol="0" anchor="ctr"/>
            <a:lstStyle/>
            <a:p>
              <a:pPr marL="0" lvl="0" indent="0" algn="ctr">
                <a:lnSpc>
                  <a:spcPts val="3079"/>
                </a:lnSpc>
                <a:spcBef>
                  <a:spcPct val="0"/>
                </a:spcBef>
              </a:pPr>
              <a:endParaRPr/>
            </a:p>
          </p:txBody>
        </p:sp>
      </p:grpSp>
      <p:sp>
        <p:nvSpPr>
          <p:cNvPr id="10" name="Freeform 10"/>
          <p:cNvSpPr/>
          <p:nvPr/>
        </p:nvSpPr>
        <p:spPr>
          <a:xfrm>
            <a:off x="1086125" y="1087103"/>
            <a:ext cx="504851" cy="504851"/>
          </a:xfrm>
          <a:custGeom>
            <a:avLst/>
            <a:gdLst/>
            <a:ahLst/>
            <a:cxnLst/>
            <a:rect l="l" t="t" r="r" b="b"/>
            <a:pathLst>
              <a:path w="504851" h="504851">
                <a:moveTo>
                  <a:pt x="0" y="0"/>
                </a:moveTo>
                <a:lnTo>
                  <a:pt x="504852" y="0"/>
                </a:lnTo>
                <a:lnTo>
                  <a:pt x="504852" y="504851"/>
                </a:lnTo>
                <a:lnTo>
                  <a:pt x="0" y="5048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1028700" y="6484797"/>
            <a:ext cx="5386032" cy="898227"/>
            <a:chOff x="0" y="0"/>
            <a:chExt cx="1418544" cy="236570"/>
          </a:xfrm>
        </p:grpSpPr>
        <p:sp>
          <p:nvSpPr>
            <p:cNvPr id="12" name="Freeform 12"/>
            <p:cNvSpPr/>
            <p:nvPr/>
          </p:nvSpPr>
          <p:spPr>
            <a:xfrm>
              <a:off x="0" y="0"/>
              <a:ext cx="1418544" cy="236570"/>
            </a:xfrm>
            <a:custGeom>
              <a:avLst/>
              <a:gdLst/>
              <a:ahLst/>
              <a:cxnLst/>
              <a:rect l="l" t="t" r="r" b="b"/>
              <a:pathLst>
                <a:path w="1418544" h="236570">
                  <a:moveTo>
                    <a:pt x="118285" y="0"/>
                  </a:moveTo>
                  <a:lnTo>
                    <a:pt x="1300259" y="0"/>
                  </a:lnTo>
                  <a:cubicBezTo>
                    <a:pt x="1331630" y="0"/>
                    <a:pt x="1361716" y="12462"/>
                    <a:pt x="1383899" y="34645"/>
                  </a:cubicBezTo>
                  <a:cubicBezTo>
                    <a:pt x="1406081" y="56828"/>
                    <a:pt x="1418544" y="86914"/>
                    <a:pt x="1418544" y="118285"/>
                  </a:cubicBezTo>
                  <a:lnTo>
                    <a:pt x="1418544" y="118285"/>
                  </a:lnTo>
                  <a:cubicBezTo>
                    <a:pt x="1418544" y="183612"/>
                    <a:pt x="1365586" y="236570"/>
                    <a:pt x="1300259" y="236570"/>
                  </a:cubicBezTo>
                  <a:lnTo>
                    <a:pt x="118285" y="236570"/>
                  </a:lnTo>
                  <a:cubicBezTo>
                    <a:pt x="86914" y="236570"/>
                    <a:pt x="56828" y="224108"/>
                    <a:pt x="34645" y="201925"/>
                  </a:cubicBezTo>
                  <a:cubicBezTo>
                    <a:pt x="12462" y="179742"/>
                    <a:pt x="0" y="149656"/>
                    <a:pt x="0" y="118285"/>
                  </a:cubicBezTo>
                  <a:lnTo>
                    <a:pt x="0" y="118285"/>
                  </a:lnTo>
                  <a:cubicBezTo>
                    <a:pt x="0" y="86914"/>
                    <a:pt x="12462" y="56828"/>
                    <a:pt x="34645" y="34645"/>
                  </a:cubicBezTo>
                  <a:cubicBezTo>
                    <a:pt x="56828" y="12462"/>
                    <a:pt x="86914" y="0"/>
                    <a:pt x="118285" y="0"/>
                  </a:cubicBezTo>
                  <a:close/>
                </a:path>
              </a:pathLst>
            </a:custGeom>
            <a:solidFill>
              <a:srgbClr val="047377"/>
            </a:solidFill>
          </p:spPr>
          <p:txBody>
            <a:bodyPr/>
            <a:lstStyle/>
            <a:p>
              <a:endParaRPr lang="en-US"/>
            </a:p>
          </p:txBody>
        </p:sp>
        <p:sp>
          <p:nvSpPr>
            <p:cNvPr id="13" name="TextBox 13"/>
            <p:cNvSpPr txBox="1"/>
            <p:nvPr/>
          </p:nvSpPr>
          <p:spPr>
            <a:xfrm>
              <a:off x="0" y="-47625"/>
              <a:ext cx="1418544" cy="284195"/>
            </a:xfrm>
            <a:prstGeom prst="rect">
              <a:avLst/>
            </a:prstGeom>
          </p:spPr>
          <p:txBody>
            <a:bodyPr lIns="50800" tIns="50800" rIns="50800" bIns="50800" rtlCol="0" anchor="ctr"/>
            <a:lstStyle/>
            <a:p>
              <a:pPr marL="0" lvl="0" indent="0" algn="ctr">
                <a:lnSpc>
                  <a:spcPts val="3639"/>
                </a:lnSpc>
                <a:spcBef>
                  <a:spcPct val="0"/>
                </a:spcBef>
              </a:pPr>
              <a:r>
                <a:rPr lang="en-US" sz="2599">
                  <a:solidFill>
                    <a:srgbClr val="CAF9FF"/>
                  </a:solidFill>
                  <a:latin typeface="Inter"/>
                  <a:ea typeface="Inter"/>
                  <a:cs typeface="Inter"/>
                  <a:sym typeface="Inter"/>
                </a:rPr>
                <a:t>Questions &amp; Discussion Welcome</a:t>
              </a:r>
            </a:p>
          </p:txBody>
        </p:sp>
      </p:grpSp>
      <p:sp>
        <p:nvSpPr>
          <p:cNvPr id="14" name="TextBox 14"/>
          <p:cNvSpPr txBox="1"/>
          <p:nvPr/>
        </p:nvSpPr>
        <p:spPr>
          <a:xfrm>
            <a:off x="1028700" y="3473740"/>
            <a:ext cx="7204124" cy="1501711"/>
          </a:xfrm>
          <a:prstGeom prst="rect">
            <a:avLst/>
          </a:prstGeom>
        </p:spPr>
        <p:txBody>
          <a:bodyPr lIns="0" tIns="0" rIns="0" bIns="0" rtlCol="0" anchor="t">
            <a:spAutoFit/>
          </a:bodyPr>
          <a:lstStyle/>
          <a:p>
            <a:pPr marL="0" lvl="0" indent="0" algn="l">
              <a:lnSpc>
                <a:spcPts val="11091"/>
              </a:lnSpc>
            </a:pPr>
            <a:r>
              <a:rPr lang="en-US" sz="11926" spc="-262">
                <a:solidFill>
                  <a:srgbClr val="047377"/>
                </a:solidFill>
                <a:latin typeface="Anton"/>
                <a:ea typeface="Anton"/>
                <a:cs typeface="Anton"/>
                <a:sym typeface="Anton"/>
              </a:rPr>
              <a:t>THANK YOU!</a:t>
            </a:r>
          </a:p>
        </p:txBody>
      </p:sp>
      <p:sp>
        <p:nvSpPr>
          <p:cNvPr id="15" name="Freeform 15"/>
          <p:cNvSpPr/>
          <p:nvPr/>
        </p:nvSpPr>
        <p:spPr>
          <a:xfrm>
            <a:off x="0" y="-8559329"/>
            <a:ext cx="18288000" cy="15661178"/>
          </a:xfrm>
          <a:custGeom>
            <a:avLst/>
            <a:gdLst/>
            <a:ahLst/>
            <a:cxnLst/>
            <a:rect l="l" t="t" r="r" b="b"/>
            <a:pathLst>
              <a:path w="18288000" h="15661178">
                <a:moveTo>
                  <a:pt x="0" y="0"/>
                </a:moveTo>
                <a:lnTo>
                  <a:pt x="18288000" y="0"/>
                </a:lnTo>
                <a:lnTo>
                  <a:pt x="18288000" y="15661178"/>
                </a:lnTo>
                <a:lnTo>
                  <a:pt x="0" y="15661178"/>
                </a:lnTo>
                <a:lnTo>
                  <a:pt x="0" y="0"/>
                </a:lnTo>
                <a:close/>
              </a:path>
            </a:pathLst>
          </a:custGeom>
          <a:blipFill>
            <a:blip>
              <a:alphaModFix amt="38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TextBox 16"/>
          <p:cNvSpPr txBox="1"/>
          <p:nvPr/>
        </p:nvSpPr>
        <p:spPr>
          <a:xfrm>
            <a:off x="1086125" y="7694295"/>
            <a:ext cx="6930993" cy="1249712"/>
          </a:xfrm>
          <a:prstGeom prst="rect">
            <a:avLst/>
          </a:prstGeom>
        </p:spPr>
        <p:txBody>
          <a:bodyPr lIns="0" tIns="0" rIns="0" bIns="0" rtlCol="0" anchor="t">
            <a:spAutoFit/>
          </a:bodyPr>
          <a:lstStyle/>
          <a:p>
            <a:pPr marL="0" lvl="0" indent="0" algn="just">
              <a:lnSpc>
                <a:spcPts val="2518"/>
              </a:lnSpc>
              <a:spcBef>
                <a:spcPct val="0"/>
              </a:spcBef>
            </a:pPr>
            <a:r>
              <a:rPr lang="en-US" sz="1798">
                <a:solidFill>
                  <a:srgbClr val="047377"/>
                </a:solidFill>
                <a:latin typeface="Inter"/>
                <a:ea typeface="Inter"/>
                <a:cs typeface="Inter"/>
                <a:sym typeface="Inter"/>
              </a:rPr>
              <a:t>Thank you for your attention throughout this presentation of the SON Project. We welcome any questions about our Secure Enterprise Network implementation, the Cisco Packet Tracer simulations, or our hardware lab setup.</a:t>
            </a:r>
          </a:p>
        </p:txBody>
      </p:sp>
      <p:sp>
        <p:nvSpPr>
          <p:cNvPr id="17" name="TextBox 17"/>
          <p:cNvSpPr txBox="1"/>
          <p:nvPr/>
        </p:nvSpPr>
        <p:spPr>
          <a:xfrm>
            <a:off x="11887200" y="1010903"/>
            <a:ext cx="2133601" cy="696281"/>
          </a:xfrm>
          <a:prstGeom prst="rect">
            <a:avLst/>
          </a:prstGeom>
        </p:spPr>
        <p:txBody>
          <a:bodyPr wrap="square" lIns="0" tIns="0" rIns="0" bIns="0" rtlCol="0" anchor="t">
            <a:spAutoFit/>
          </a:bodyPr>
          <a:lstStyle/>
          <a:p>
            <a:pPr algn="ctr">
              <a:lnSpc>
                <a:spcPts val="5879"/>
              </a:lnSpc>
              <a:spcBef>
                <a:spcPct val="0"/>
              </a:spcBef>
            </a:pPr>
            <a:r>
              <a:rPr lang="en-US" sz="4199" b="1" dirty="0">
                <a:solidFill>
                  <a:srgbClr val="000000"/>
                </a:solidFill>
                <a:latin typeface="Inter Bold"/>
                <a:ea typeface="Inter Bold"/>
                <a:cs typeface="Inter Bold"/>
                <a:sym typeface="Inter Bold"/>
              </a:rPr>
              <a:t>CS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1510</Words>
  <Application>Microsoft Office PowerPoint</Application>
  <PresentationFormat>Custom</PresentationFormat>
  <Paragraphs>130</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Inter</vt:lpstr>
      <vt:lpstr>Canva Sans</vt:lpstr>
      <vt:lpstr>Inter Bold</vt:lpstr>
      <vt:lpstr>Canva Sans Bold</vt:lpstr>
      <vt:lpstr>Koho</vt:lpstr>
      <vt:lpstr>Anton</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 Project:presentation</dc:title>
  <cp:lastModifiedBy>عبدالرحمن احمد محمد احمدعويس</cp:lastModifiedBy>
  <cp:revision>2</cp:revision>
  <dcterms:created xsi:type="dcterms:W3CDTF">2006-08-16T00:00:00Z</dcterms:created>
  <dcterms:modified xsi:type="dcterms:W3CDTF">2026-06-24T05:00:19Z</dcterms:modified>
  <dc:identifier>DAHIt3Fvwjo</dc:identifier>
</cp:coreProperties>
</file>